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Lst>
  <p:sldSz cy="5143500" cx="9144000"/>
  <p:notesSz cx="6858000" cy="9144000"/>
  <p:embeddedFontLst>
    <p:embeddedFont>
      <p:font typeface="Raleway"/>
      <p:regular r:id="rId224"/>
      <p:bold r:id="rId225"/>
      <p:italic r:id="rId226"/>
      <p:boldItalic r:id="rId227"/>
    </p:embeddedFont>
    <p:embeddedFont>
      <p:font typeface="Lato"/>
      <p:regular r:id="rId228"/>
      <p:bold r:id="rId229"/>
      <p:italic r:id="rId230"/>
      <p:boldItalic r:id="rId2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248044-98C1-494C-B8A0-CC14BB49CBE2}">
  <a:tblStyle styleId="{9A248044-98C1-494C-B8A0-CC14BB49CBE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schemas.openxmlformats.org/officeDocument/2006/relationships/slide" Target="slides/slide18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194" Type="http://schemas.openxmlformats.org/officeDocument/2006/relationships/slide" Target="slides/slide187.xml"/><Relationship Id="rId43" Type="http://schemas.openxmlformats.org/officeDocument/2006/relationships/slide" Target="slides/slide36.xml"/><Relationship Id="rId193" Type="http://schemas.openxmlformats.org/officeDocument/2006/relationships/slide" Target="slides/slide186.xml"/><Relationship Id="rId46" Type="http://schemas.openxmlformats.org/officeDocument/2006/relationships/slide" Target="slides/slide39.xml"/><Relationship Id="rId192" Type="http://schemas.openxmlformats.org/officeDocument/2006/relationships/slide" Target="slides/slide185.xml"/><Relationship Id="rId45" Type="http://schemas.openxmlformats.org/officeDocument/2006/relationships/slide" Target="slides/slide38.xml"/><Relationship Id="rId191" Type="http://schemas.openxmlformats.org/officeDocument/2006/relationships/slide" Target="slides/slide184.xml"/><Relationship Id="rId48" Type="http://schemas.openxmlformats.org/officeDocument/2006/relationships/slide" Target="slides/slide41.xml"/><Relationship Id="rId187" Type="http://schemas.openxmlformats.org/officeDocument/2006/relationships/slide" Target="slides/slide180.xml"/><Relationship Id="rId47" Type="http://schemas.openxmlformats.org/officeDocument/2006/relationships/slide" Target="slides/slide40.xml"/><Relationship Id="rId186" Type="http://schemas.openxmlformats.org/officeDocument/2006/relationships/slide" Target="slides/slide179.xml"/><Relationship Id="rId185" Type="http://schemas.openxmlformats.org/officeDocument/2006/relationships/slide" Target="slides/slide178.xml"/><Relationship Id="rId49" Type="http://schemas.openxmlformats.org/officeDocument/2006/relationships/slide" Target="slides/slide42.xml"/><Relationship Id="rId184" Type="http://schemas.openxmlformats.org/officeDocument/2006/relationships/slide" Target="slides/slide177.xml"/><Relationship Id="rId189" Type="http://schemas.openxmlformats.org/officeDocument/2006/relationships/slide" Target="slides/slide182.xml"/><Relationship Id="rId188" Type="http://schemas.openxmlformats.org/officeDocument/2006/relationships/slide" Target="slides/slide18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slide" Target="slides/slide176.xml"/><Relationship Id="rId32" Type="http://schemas.openxmlformats.org/officeDocument/2006/relationships/slide" Target="slides/slide25.xml"/><Relationship Id="rId182" Type="http://schemas.openxmlformats.org/officeDocument/2006/relationships/slide" Target="slides/slide175.xml"/><Relationship Id="rId35" Type="http://schemas.openxmlformats.org/officeDocument/2006/relationships/slide" Target="slides/slide28.xml"/><Relationship Id="rId181" Type="http://schemas.openxmlformats.org/officeDocument/2006/relationships/slide" Target="slides/slide174.xml"/><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36" Type="http://schemas.openxmlformats.org/officeDocument/2006/relationships/slide" Target="slides/slide29.xml"/><Relationship Id="rId175" Type="http://schemas.openxmlformats.org/officeDocument/2006/relationships/slide" Target="slides/slide168.xml"/><Relationship Id="rId39" Type="http://schemas.openxmlformats.org/officeDocument/2006/relationships/slide" Target="slides/slide32.xml"/><Relationship Id="rId174" Type="http://schemas.openxmlformats.org/officeDocument/2006/relationships/slide" Target="slides/slide167.xml"/><Relationship Id="rId38" Type="http://schemas.openxmlformats.org/officeDocument/2006/relationships/slide" Target="slides/slide31.xml"/><Relationship Id="rId173" Type="http://schemas.openxmlformats.org/officeDocument/2006/relationships/slide" Target="slides/slide166.xml"/><Relationship Id="rId179" Type="http://schemas.openxmlformats.org/officeDocument/2006/relationships/slide" Target="slides/slide172.xml"/><Relationship Id="rId178" Type="http://schemas.openxmlformats.org/officeDocument/2006/relationships/slide" Target="slides/slide171.xml"/><Relationship Id="rId177" Type="http://schemas.openxmlformats.org/officeDocument/2006/relationships/slide" Target="slides/slide170.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98" Type="http://schemas.openxmlformats.org/officeDocument/2006/relationships/slide" Target="slides/slide191.xml"/><Relationship Id="rId14" Type="http://schemas.openxmlformats.org/officeDocument/2006/relationships/slide" Target="slides/slide7.xml"/><Relationship Id="rId197" Type="http://schemas.openxmlformats.org/officeDocument/2006/relationships/slide" Target="slides/slide190.xml"/><Relationship Id="rId17" Type="http://schemas.openxmlformats.org/officeDocument/2006/relationships/slide" Target="slides/slide10.xml"/><Relationship Id="rId196" Type="http://schemas.openxmlformats.org/officeDocument/2006/relationships/slide" Target="slides/slide189.xml"/><Relationship Id="rId16" Type="http://schemas.openxmlformats.org/officeDocument/2006/relationships/slide" Target="slides/slide9.xml"/><Relationship Id="rId195" Type="http://schemas.openxmlformats.org/officeDocument/2006/relationships/slide" Target="slides/slide188.xml"/><Relationship Id="rId19" Type="http://schemas.openxmlformats.org/officeDocument/2006/relationships/slide" Target="slides/slide12.xml"/><Relationship Id="rId18" Type="http://schemas.openxmlformats.org/officeDocument/2006/relationships/slide" Target="slides/slide11.xml"/><Relationship Id="rId199" Type="http://schemas.openxmlformats.org/officeDocument/2006/relationships/slide" Target="slides/slide192.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65" Type="http://schemas.openxmlformats.org/officeDocument/2006/relationships/slide" Target="slides/slide58.xml"/><Relationship Id="rId171" Type="http://schemas.openxmlformats.org/officeDocument/2006/relationships/slide" Target="slides/slide164.xml"/><Relationship Id="rId68" Type="http://schemas.openxmlformats.org/officeDocument/2006/relationships/slide" Target="slides/slide61.xml"/><Relationship Id="rId170" Type="http://schemas.openxmlformats.org/officeDocument/2006/relationships/slide" Target="slides/slide163.xml"/><Relationship Id="rId67" Type="http://schemas.openxmlformats.org/officeDocument/2006/relationships/slide" Target="slides/slide60.xml"/><Relationship Id="rId60" Type="http://schemas.openxmlformats.org/officeDocument/2006/relationships/slide" Target="slides/slide53.xml"/><Relationship Id="rId165" Type="http://schemas.openxmlformats.org/officeDocument/2006/relationships/slide" Target="slides/slide158.xml"/><Relationship Id="rId69" Type="http://schemas.openxmlformats.org/officeDocument/2006/relationships/slide" Target="slides/slide62.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9" Type="http://schemas.openxmlformats.org/officeDocument/2006/relationships/slide" Target="slides/slide162.xml"/><Relationship Id="rId168" Type="http://schemas.openxmlformats.org/officeDocument/2006/relationships/slide" Target="slides/slide161.xml"/><Relationship Id="rId167" Type="http://schemas.openxmlformats.org/officeDocument/2006/relationships/slide" Target="slides/slide160.xml"/><Relationship Id="rId166" Type="http://schemas.openxmlformats.org/officeDocument/2006/relationships/slide" Target="slides/slide159.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54" Type="http://schemas.openxmlformats.org/officeDocument/2006/relationships/slide" Target="slides/slide47.xml"/><Relationship Id="rId160" Type="http://schemas.openxmlformats.org/officeDocument/2006/relationships/slide" Target="slides/slide153.xml"/><Relationship Id="rId57" Type="http://schemas.openxmlformats.org/officeDocument/2006/relationships/slide" Target="slides/slide50.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 Id="rId107" Type="http://schemas.openxmlformats.org/officeDocument/2006/relationships/slide" Target="slides/slide100.xml"/><Relationship Id="rId228" Type="http://schemas.openxmlformats.org/officeDocument/2006/relationships/font" Target="fonts/Lato-regular.fntdata"/><Relationship Id="rId106" Type="http://schemas.openxmlformats.org/officeDocument/2006/relationships/slide" Target="slides/slide99.xml"/><Relationship Id="rId227" Type="http://schemas.openxmlformats.org/officeDocument/2006/relationships/font" Target="fonts/Raleway-boldItalic.fntdata"/><Relationship Id="rId105" Type="http://schemas.openxmlformats.org/officeDocument/2006/relationships/slide" Target="slides/slide98.xml"/><Relationship Id="rId226" Type="http://schemas.openxmlformats.org/officeDocument/2006/relationships/font" Target="fonts/Raleway-italic.fntdata"/><Relationship Id="rId104" Type="http://schemas.openxmlformats.org/officeDocument/2006/relationships/slide" Target="slides/slide97.xml"/><Relationship Id="rId225" Type="http://schemas.openxmlformats.org/officeDocument/2006/relationships/font" Target="fonts/Raleway-bold.fntdata"/><Relationship Id="rId109" Type="http://schemas.openxmlformats.org/officeDocument/2006/relationships/slide" Target="slides/slide102.xml"/><Relationship Id="rId108" Type="http://schemas.openxmlformats.org/officeDocument/2006/relationships/slide" Target="slides/slide101.xml"/><Relationship Id="rId229" Type="http://schemas.openxmlformats.org/officeDocument/2006/relationships/font" Target="fonts/Lato-bold.fntdata"/><Relationship Id="rId220" Type="http://schemas.openxmlformats.org/officeDocument/2006/relationships/slide" Target="slides/slide213.xml"/><Relationship Id="rId103" Type="http://schemas.openxmlformats.org/officeDocument/2006/relationships/slide" Target="slides/slide96.xml"/><Relationship Id="rId224" Type="http://schemas.openxmlformats.org/officeDocument/2006/relationships/font" Target="fonts/Raleway-regular.fntdata"/><Relationship Id="rId102" Type="http://schemas.openxmlformats.org/officeDocument/2006/relationships/slide" Target="slides/slide95.xml"/><Relationship Id="rId223" Type="http://schemas.openxmlformats.org/officeDocument/2006/relationships/slide" Target="slides/slide216.xml"/><Relationship Id="rId101" Type="http://schemas.openxmlformats.org/officeDocument/2006/relationships/slide" Target="slides/slide94.xml"/><Relationship Id="rId222" Type="http://schemas.openxmlformats.org/officeDocument/2006/relationships/slide" Target="slides/slide215.xml"/><Relationship Id="rId100" Type="http://schemas.openxmlformats.org/officeDocument/2006/relationships/slide" Target="slides/slide93.xml"/><Relationship Id="rId221" Type="http://schemas.openxmlformats.org/officeDocument/2006/relationships/slide" Target="slides/slide214.xml"/><Relationship Id="rId217" Type="http://schemas.openxmlformats.org/officeDocument/2006/relationships/slide" Target="slides/slide210.xml"/><Relationship Id="rId216" Type="http://schemas.openxmlformats.org/officeDocument/2006/relationships/slide" Target="slides/slide209.xml"/><Relationship Id="rId215" Type="http://schemas.openxmlformats.org/officeDocument/2006/relationships/slide" Target="slides/slide208.xml"/><Relationship Id="rId214" Type="http://schemas.openxmlformats.org/officeDocument/2006/relationships/slide" Target="slides/slide207.xml"/><Relationship Id="rId219" Type="http://schemas.openxmlformats.org/officeDocument/2006/relationships/slide" Target="slides/slide212.xml"/><Relationship Id="rId218" Type="http://schemas.openxmlformats.org/officeDocument/2006/relationships/slide" Target="slides/slide211.xml"/><Relationship Id="rId213" Type="http://schemas.openxmlformats.org/officeDocument/2006/relationships/slide" Target="slides/slide206.xml"/><Relationship Id="rId212" Type="http://schemas.openxmlformats.org/officeDocument/2006/relationships/slide" Target="slides/slide205.xml"/><Relationship Id="rId211" Type="http://schemas.openxmlformats.org/officeDocument/2006/relationships/slide" Target="slides/slide204.xml"/><Relationship Id="rId210" Type="http://schemas.openxmlformats.org/officeDocument/2006/relationships/slide" Target="slides/slide203.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1" Type="http://schemas.openxmlformats.org/officeDocument/2006/relationships/slide" Target="slides/slide114.xml"/><Relationship Id="rId120" Type="http://schemas.openxmlformats.org/officeDocument/2006/relationships/slide" Target="slides/slide113.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99" Type="http://schemas.openxmlformats.org/officeDocument/2006/relationships/slide" Target="slides/slide92.xml"/><Relationship Id="rId98" Type="http://schemas.openxmlformats.org/officeDocument/2006/relationships/slide" Target="slides/slide91.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10" Type="http://schemas.openxmlformats.org/officeDocument/2006/relationships/slide" Target="slides/slide103.xml"/><Relationship Id="rId231" Type="http://schemas.openxmlformats.org/officeDocument/2006/relationships/font" Target="fonts/Lato-boldItalic.fntdata"/><Relationship Id="rId230" Type="http://schemas.openxmlformats.org/officeDocument/2006/relationships/font" Target="fonts/Lato-italic.fntdata"/><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206" Type="http://schemas.openxmlformats.org/officeDocument/2006/relationships/slide" Target="slides/slide199.xml"/><Relationship Id="rId205" Type="http://schemas.openxmlformats.org/officeDocument/2006/relationships/slide" Target="slides/slide198.xml"/><Relationship Id="rId204" Type="http://schemas.openxmlformats.org/officeDocument/2006/relationships/slide" Target="slides/slide197.xml"/><Relationship Id="rId203" Type="http://schemas.openxmlformats.org/officeDocument/2006/relationships/slide" Target="slides/slide196.xml"/><Relationship Id="rId209" Type="http://schemas.openxmlformats.org/officeDocument/2006/relationships/slide" Target="slides/slide202.xml"/><Relationship Id="rId208" Type="http://schemas.openxmlformats.org/officeDocument/2006/relationships/slide" Target="slides/slide201.xml"/><Relationship Id="rId207" Type="http://schemas.openxmlformats.org/officeDocument/2006/relationships/slide" Target="slides/slide200.xml"/><Relationship Id="rId202" Type="http://schemas.openxmlformats.org/officeDocument/2006/relationships/slide" Target="slides/slide195.xml"/><Relationship Id="rId201" Type="http://schemas.openxmlformats.org/officeDocument/2006/relationships/slide" Target="slides/slide194.xml"/><Relationship Id="rId200" Type="http://schemas.openxmlformats.org/officeDocument/2006/relationships/slide" Target="slides/slide1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dc43fb1b07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dc43fb1b0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dc43fb1b0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dc43fb1b0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dc43fb1b07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dc43fb1b0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dc43fb1b07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dc43fb1b0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dc43fb1b0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dc43fb1b0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dc43fb1b07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dc43fb1b07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dc43fb1b07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dc43fb1b07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dc43fb1b07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dc43fb1b07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dc43fb1b07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dc43fb1b07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dc43fb1b07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dc43fb1b07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c43fb1b07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dc43fb1b07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dc43fb1b07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dc43fb1b07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dc43fb1b07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dc43fb1b07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dc43fb1b07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dc43fb1b07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dc43fb1b07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dc43fb1b07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dc43fb1b0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dc43fb1b0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dc43fb1b07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dc43fb1b07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dc43fb1b07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dc43fb1b07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dc43fb1b07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dc43fb1b07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dc43fb1b07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dc43fb1b07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dc43fb1b07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dc43fb1b07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dc43fb1b07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dc43fb1b07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dc43fb1b07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dc43fb1b07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dc43fb1b07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dc43fb1b07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dc43fb1b07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dc43fb1b07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dc43fb1b07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dc43fb1b07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dc43fb1b07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dc43fb1b07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dc43fb1b07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dc43fb1b07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dc43fb1b07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dc43fb1b07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dc43fb1b07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dc43fb1b07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dc43fb1b07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dc43fb1b07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dc43fb1b07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dc43fb1b07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dc43fb1b07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dc43fb1b07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dc43fb1b07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dc43fb1b07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dc43fb1b07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dc43fb1b07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dc43fb1b07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dc43fb1b07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dc43fb1b07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dc43fb1b07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dc43fb1b07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dc43fb1b07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dc43fb1b07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dc43fb1b07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dc43fb1b07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dc43fb1b07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dc43fb1b07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dc43fb1b07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dc43fb1b07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dc43fb1b07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dc43fb1b07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dc43fb1b07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dc43fb1b07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dc43fb1b07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dc43fb1b07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dc43fb1b07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dc43fb1b07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dc43fb1b07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dc43fb1b07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dc43fb1b07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dc43fb1b07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dc43fb1b07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dc43fb1b07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dc43fb1b07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dc43fb1b07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dc43fb1b07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dc43fb1b07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dc43fb1b07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dc43fb1b07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dc43fb1b07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dc43fb1b07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dc43fb1b07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dc43fb1b07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dc43fb1b07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dc43fb1b07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dc43fb1b07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dc43fb1b07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dc43fb1b07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dc43fb1b07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dc43fb1b07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dc43fb1b07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dc43fb1b07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dc43fb1b07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dc43fb1b07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dc43fb1b07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dc43fb1b07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dc43fb1b07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dc43fb1b07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dc43fb1b07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dc43fb1b07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dc43fb1b07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dc43fb1b07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dc43fb1b07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dc43fb1b07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dc43fb1b07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dc43fb1b07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dc43fb1b07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dc43fb1b07_0_1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dc43fb1b07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dc43fb1b07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dc43fb1b07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dc43fb1b07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dc43fb1b07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dc43fb1b07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dc43fb1b07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dc43fb1b07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dc43fb1b07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dc43fb1b07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dc43fb1b07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dc43fb1b07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dc43fb1b07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dc43fb1b07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dc43fb1b07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dc43fb1b07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dc43fb1b07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dc43fb1b07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dc43fb1b07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dc43fb1b07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dc43fb1b07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dc43fb1b07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dc43fb1b07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dc43fb1b07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dc43fb1b07_0_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dc43fb1b07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dc43fb1b07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dc43fb1b07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dc43fb1b07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dc43fb1b07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dc43fb1b07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dc43fb1b07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dc43fb1b07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dc43fb1b07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dc43fb1b07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dc43fb1b07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dc43fb1b07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dc43fb1b07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dc43fb1b07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dc43fb1b07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dc43fb1b07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dc43fb1b07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dc43fb1b07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dc43fb1b07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dc43fb1b07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dc43fb1b07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dc43fb1b07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dc43fb1b07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dc43fb1b07_0_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dc43fb1b07_0_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dc43fb1b07_0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dc43fb1b07_0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dc43fb1b07_0_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dc43fb1b07_0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dc43fb1b07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dc43fb1b07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dc43fb1b07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dc43fb1b07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dc43fb1b07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dc43fb1b07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dc43fb1b07_0_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dc43fb1b07_0_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dc43fb1b07_0_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dc43fb1b07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dc43fb1b07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dc43fb1b07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dc43fb1b07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dc43fb1b07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dc43fb1b07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dc43fb1b07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dc43fb1b07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dc43fb1b07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dc43fb1b07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dc43fb1b07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dc43fb1b07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dc43fb1b07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dc43fb1b07_0_1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dc43fb1b07_0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dc43fb1b07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dc43fb1b07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dc43fb1b07_0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dc43fb1b07_0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dabd2a5ade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dabd2a5ade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dc43fb1b07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dc43fb1b07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dc43fb1b07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dc43fb1b07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dc43fb1b07_0_1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dc43fb1b07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dc43fb1b07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dc43fb1b07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dc43fb1b07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dc43fb1b07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dc43fb1b07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dc43fb1b07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dc43fb1b07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dc43fb1b07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dc43fb1b07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dc43fb1b07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dc43fb1b07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dc43fb1b07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dc43fb1b07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dc43fb1b07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dc43fb1b07_0_1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dc43fb1b07_0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dc43fb1b07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dc43fb1b07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dc43fb1b07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dc43fb1b07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dc43fb1b07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dc43fb1b07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dc43fb1b07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dc43fb1b07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dc43fb1b07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dc43fb1b07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dc43fb1b07_0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dc43fb1b07_0_1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dc43fb1b07_0_1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dc43fb1b07_0_1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dc43fb1b07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dc43fb1b07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dc43fb1b07_0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dc43fb1b07_0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dc43fb1b07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dc43fb1b07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dc43fb1b07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dc43fb1b07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dc43fb1b07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dc43fb1b07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dc43fb1b07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dc43fb1b07_0_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dc43fb1b07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dc43fb1b07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dc43fb1b07_0_1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dc43fb1b07_0_1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dc43fb1b07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dc43fb1b07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dc43fb1b07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dc43fb1b07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dc43fb1b07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dc43fb1b07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dc43fb1b07_0_1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dc43fb1b07_0_1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dc43fb1b07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dc43fb1b07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dc43fb1b07_0_1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dc43fb1b07_0_1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dc43fb1b07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dc43fb1b07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dc43fb1b07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dc43fb1b07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dc43fb1b07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dc43fb1b07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dc43fb1b07_0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dc43fb1b07_0_1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dc43fb1b07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dc43fb1b07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dc43fb1b07_0_1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dc43fb1b07_0_1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dc43fb1b07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dc43fb1b07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dc43fb1b07_0_1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dc43fb1b07_0_1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dc43fb1b07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dc43fb1b07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dc43fb1b07_0_1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dc43fb1b07_0_1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dc43fb1b07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dc43fb1b07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dc43fb1b07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dc43fb1b07_0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dc43fb1b07_0_1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dc43fb1b07_0_1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dc43fb1b07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dc43fb1b07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dc43fb1b07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dc43fb1b07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dc43fb1b07_0_1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dc43fb1b07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dc43fb1b07_0_1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dc43fb1b07_0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dc43fb1b07_0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dc43fb1b07_0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dc43fb1b07_0_1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dc43fb1b07_0_1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dc43fb1b07_0_1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dc43fb1b07_0_1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dc43fb1b07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dc43fb1b07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dc43fb1b07_0_1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dc43fb1b07_0_1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dc43fb1b07_0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dc43fb1b07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dabd2a5ade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dabd2a5ade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dc43fb1b07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dc43fb1b07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dc43fb1b07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dc43fb1b07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dc43fb1b07_0_1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dc43fb1b07_0_1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dc43fb1b07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dc43fb1b07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dc43fb1b07_0_1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dc43fb1b07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dc43fb1b07_0_1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dc43fb1b07_0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dc43fb1b07_0_1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dc43fb1b07_0_1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dc43fb1b07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dc43fb1b07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dd88b3e2b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dd88b3e2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dd88b3e2b7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dd88b3e2b7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dc43fb1b07_0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dc43fb1b07_0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dc43fb1b07_0_1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dc43fb1b07_0_1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dc43fb1b07_0_1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dc43fb1b07_0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dc43fb1b07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dc43fb1b07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dc43fb1b07_0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dc43fb1b07_0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dc43fb1b07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dc43fb1b07_0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dc43fb1b07_0_1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dc43fb1b07_0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dc43fb1b07_0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dc43fb1b07_0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dc43fb1b07_0_1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dc43fb1b07_0_1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dc43fb1b07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dc43fb1b07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dc43fb1b07_0_1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dc43fb1b07_0_1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dabd2a5ad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dabd2a5ad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dc43fb1b07_0_1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dc43fb1b07_0_1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dc43fb1b07_0_1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dc43fb1b07_0_1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dc43fb1b07_0_1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dc43fb1b07_0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dc43fb1b07_0_1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dc43fb1b07_0_1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dc43fb1b07_0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dc43fb1b07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dabd2a5ad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dabd2a5ad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dabd2a5ad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dabd2a5ad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dabd2a5ad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dabd2a5ad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dc43fb1b07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dc43fb1b07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dabd2a5ad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dabd2a5ad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dabd2a5ad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dabd2a5ad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dc43fb1b07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dc43fb1b07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dabd2a5ad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dabd2a5ade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dc43fb1b07_0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dc43fb1b07_0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dabd2a5ad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dabd2a5ad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dabd2a5ade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dabd2a5ad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dabd2a5ade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dabd2a5ad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dabd2a5ade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dabd2a5ade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dabd2a5ad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dabd2a5ad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dabd2a5ade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dabd2a5ade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dabd2a5ade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dabd2a5ade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dabd2a5ade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dabd2a5ad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dabd2a5ade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5" name="Google Shape;1395;gdabd2a5ade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dabd2a5ade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dabd2a5ade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dabd2a5ade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dabd2a5ade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dabd2a5ade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dabd2a5ad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gdabd2a5ad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0" name="Google Shape;1420;gdabd2a5ad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dc43fb1b07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6" name="Google Shape;1426;gdc43fb1b07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dc43fb1b07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dc43fb1b07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hyperlink" Target="https://start.spring.i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35.png"/><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23.png"/><Relationship Id="rId4"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hyperlink" Target="https://docs.oracle.com/en/java/javase/16/docs/api/java.base/java/util/Timer.html"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3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hyperlink" Target="https://docs.oracle.com/en/java/javase/16/docs/api/java.base/java/util/concurrent/ThreadPoolExecutor.html"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5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1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 Id="rId3" Type="http://schemas.openxmlformats.org/officeDocument/2006/relationships/image" Target="../media/image4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3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 Id="rId3" Type="http://schemas.openxmlformats.org/officeDocument/2006/relationships/image" Target="../media/image2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3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 Id="rId3" Type="http://schemas.openxmlformats.org/officeDocument/2006/relationships/hyperlink" Target="https://docs.oracle.com/en/java/javase/16/docs/api/java.base/java/util/concurrent/ExecutorService.html"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hyperlink" Target="https://docs.oracle.com/en/java/javase/16/docs/api/java.base/java/util/concurrent/Executors.html"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 Id="rId3" Type="http://schemas.openxmlformats.org/officeDocument/2006/relationships/image" Target="../media/image3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 Id="rId3" Type="http://schemas.openxmlformats.org/officeDocument/2006/relationships/image" Target="../media/image4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2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3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 Id="rId3" Type="http://schemas.openxmlformats.org/officeDocument/2006/relationships/image" Target="../media/image5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 Id="rId3" Type="http://schemas.openxmlformats.org/officeDocument/2006/relationships/hyperlink" Target="https://docs.oracle.com/en/java/javase/16/docs/api/java.base/java/util/concurrent/CompletableFuture.html"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 Id="rId3" Type="http://schemas.openxmlformats.org/officeDocument/2006/relationships/image" Target="../media/image4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 Id="rId3" Type="http://schemas.openxmlformats.org/officeDocument/2006/relationships/image" Target="../media/image5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 Id="rId3" Type="http://schemas.openxmlformats.org/officeDocument/2006/relationships/image" Target="../media/image3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 Id="rId3" Type="http://schemas.openxmlformats.org/officeDocument/2006/relationships/hyperlink" Target="https://docs.oracle.com/en/java/javase/16/docs/api/java.base/java/util/concurrent/CompletionStage.html"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 Id="rId3"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 Id="rId3" Type="http://schemas.openxmlformats.org/officeDocument/2006/relationships/hyperlink" Target="https://docs.oracle.com/en/java/javase/16/docs/api/java.base/java/util/concurrent/CompletionService.html" TargetMode="External"/><Relationship Id="rId4" Type="http://schemas.openxmlformats.org/officeDocument/2006/relationships/hyperlink" Target="https://docs.oracle.com/en/java/javase/16/docs/api/java.base/java/util/concurrent/ExecutorCompletionService.html"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 Id="rId3" Type="http://schemas.openxmlformats.org/officeDocument/2006/relationships/image" Target="../media/image5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 Id="rId3" Type="http://schemas.openxmlformats.org/officeDocument/2006/relationships/image" Target="../media/image4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1.xml"/><Relationship Id="rId3" Type="http://schemas.openxmlformats.org/officeDocument/2006/relationships/image" Target="../media/image5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2.xml"/><Relationship Id="rId3" Type="http://schemas.openxmlformats.org/officeDocument/2006/relationships/image" Target="../media/image5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 Id="rId3" Type="http://schemas.openxmlformats.org/officeDocument/2006/relationships/hyperlink" Target="https://docs.oracle.com/en/java/javase/16/docs/api/java.base/java/util/concurrent/ScheduledExecutorService.html"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 Id="rId3" Type="http://schemas.openxmlformats.org/officeDocument/2006/relationships/hyperlink" Target="https://docs.oracle.com/en/java/javase/16/docs/api/java.base/java/util/concurrent/ScheduledFuture.html"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 Id="rId3" Type="http://schemas.openxmlformats.org/officeDocument/2006/relationships/hyperlink" Target="https://docs.oracle.com/en/java/javase/16/docs/api/java.base/java/util/concurrent/ScheduledThreadPoolExecutor.html"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7.xml"/><Relationship Id="rId3" Type="http://schemas.openxmlformats.org/officeDocument/2006/relationships/image" Target="../media/image4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8.xml"/><Relationship Id="rId3" Type="http://schemas.openxmlformats.org/officeDocument/2006/relationships/image" Target="../media/image5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0.xml"/><Relationship Id="rId3" Type="http://schemas.openxmlformats.org/officeDocument/2006/relationships/hyperlink" Target="https://docs.oracle.com/en/java/javase/16/docs/api/java.base/java/util/concurrent/atomic/package-summary.html" TargetMode="External"/><Relationship Id="rId4" Type="http://schemas.openxmlformats.org/officeDocument/2006/relationships/hyperlink" Target="https://en.wikipedia.org/wiki/Compare-and-swap"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1.xml"/><Relationship Id="rId3" Type="http://schemas.openxmlformats.org/officeDocument/2006/relationships/image" Target="../media/image5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2.xml"/><Relationship Id="rId3" Type="http://schemas.openxmlformats.org/officeDocument/2006/relationships/image" Target="../media/image5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 Id="rId3" Type="http://schemas.openxmlformats.org/officeDocument/2006/relationships/hyperlink" Target="https://docs.oracle.com/en/java/javase/16/docs/api/java.base/java/util/concurrent/locks/package-summary.html"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5.xml"/><Relationship Id="rId3" Type="http://schemas.openxmlformats.org/officeDocument/2006/relationships/hyperlink" Target="https://docs.oracle.com/en/java/javase/16/docs/api/java.base/java/util/concurrent/locks/Lock.html"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 Id="rId3" Type="http://schemas.openxmlformats.org/officeDocument/2006/relationships/image" Target="../media/image4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7.xml"/><Relationship Id="rId3" Type="http://schemas.openxmlformats.org/officeDocument/2006/relationships/hyperlink" Target="https://docs.oracle.com/en/java/javase/16/docs/api/java.base/java/util/concurrent/locks/ReadWriteLock.html"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8.xml"/><Relationship Id="rId3" Type="http://schemas.openxmlformats.org/officeDocument/2006/relationships/image" Target="../media/image61.png"/><Relationship Id="rId4" Type="http://schemas.openxmlformats.org/officeDocument/2006/relationships/image" Target="../media/image4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9.xml"/><Relationship Id="rId3" Type="http://schemas.openxmlformats.org/officeDocument/2006/relationships/hyperlink" Target="https://docs.oracle.com/en/java/javase/16/docs/api/java.base/java/util/concurrent/locks/Condition.html"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0.xml"/><Relationship Id="rId3" Type="http://schemas.openxmlformats.org/officeDocument/2006/relationships/image" Target="../media/image78.png"/><Relationship Id="rId4" Type="http://schemas.openxmlformats.org/officeDocument/2006/relationships/image" Target="../media/image48.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5.xml"/><Relationship Id="rId3" Type="http://schemas.openxmlformats.org/officeDocument/2006/relationships/hyperlink" Target="https://docs.oracle.com/en/java/javase/16/docs/api/java.base/java/util/concurrent/Semaphore.html"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6.xml"/><Relationship Id="rId3" Type="http://schemas.openxmlformats.org/officeDocument/2006/relationships/image" Target="../media/image6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8.xml"/><Relationship Id="rId3" Type="http://schemas.openxmlformats.org/officeDocument/2006/relationships/hyperlink" Target="https://docs.oracle.com/en/java/javase/16/docs/api/java.base/java/util/concurrent/CountDownLatch.html"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9.xml"/><Relationship Id="rId3" Type="http://schemas.openxmlformats.org/officeDocument/2006/relationships/image" Target="../media/image6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0.xml"/><Relationship Id="rId3" Type="http://schemas.openxmlformats.org/officeDocument/2006/relationships/image" Target="../media/image7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2.xml"/><Relationship Id="rId3" Type="http://schemas.openxmlformats.org/officeDocument/2006/relationships/hyperlink" Target="https://docs.oracle.com/en/java/javase/16/docs/api/java.base/java/util/concurrent/CyclicBarrier.html"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3.xml"/><Relationship Id="rId3" Type="http://schemas.openxmlformats.org/officeDocument/2006/relationships/image" Target="../media/image5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5.xml"/><Relationship Id="rId3" Type="http://schemas.openxmlformats.org/officeDocument/2006/relationships/hyperlink" Target="https://docs.oracle.com/en/java/javase/16/docs/api/java.base/java/util/concurrent/Phaser.html"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6.xml"/><Relationship Id="rId3" Type="http://schemas.openxmlformats.org/officeDocument/2006/relationships/image" Target="../media/image6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7.xml"/><Relationship Id="rId3" Type="http://schemas.openxmlformats.org/officeDocument/2006/relationships/image" Target="../media/image7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8.xml"/><Relationship Id="rId3" Type="http://schemas.openxmlformats.org/officeDocument/2006/relationships/image" Target="../media/image6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0.xml"/><Relationship Id="rId3" Type="http://schemas.openxmlformats.org/officeDocument/2006/relationships/hyperlink" Target="https://docs.oracle.com/en/java/javase/16/docs/api/java.base/java/util/concurrent/Exchanger.html"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1.xml"/><Relationship Id="rId3" Type="http://schemas.openxmlformats.org/officeDocument/2006/relationships/image" Target="../media/image67.png"/><Relationship Id="rId4" Type="http://schemas.openxmlformats.org/officeDocument/2006/relationships/image" Target="../media/image69.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6.xml"/><Relationship Id="rId3" Type="http://schemas.openxmlformats.org/officeDocument/2006/relationships/hyperlink" Target="https://docs.oracle.com/en/java/javase/16/docs/api/java.base/java/util/concurrent/BlockingQueue.html" TargetMode="Externa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7.xml"/><Relationship Id="rId3" Type="http://schemas.openxmlformats.org/officeDocument/2006/relationships/image" Target="../media/image64.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8.xml"/><Relationship Id="rId3" Type="http://schemas.openxmlformats.org/officeDocument/2006/relationships/image" Target="../media/image7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0.xml"/><Relationship Id="rId3" Type="http://schemas.openxmlformats.org/officeDocument/2006/relationships/image" Target="../media/image68.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1.xml"/><Relationship Id="rId3" Type="http://schemas.openxmlformats.org/officeDocument/2006/relationships/image" Target="../media/image66.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2.xml"/><Relationship Id="rId3" Type="http://schemas.openxmlformats.org/officeDocument/2006/relationships/image" Target="../media/image7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3.xml"/><Relationship Id="rId3" Type="http://schemas.openxmlformats.org/officeDocument/2006/relationships/image" Target="../media/image8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4.xml"/><Relationship Id="rId3" Type="http://schemas.openxmlformats.org/officeDocument/2006/relationships/image" Target="../media/image83.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5.xml"/><Relationship Id="rId3" Type="http://schemas.openxmlformats.org/officeDocument/2006/relationships/image" Target="../media/image7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6.xml"/><Relationship Id="rId3" Type="http://schemas.openxmlformats.org/officeDocument/2006/relationships/hyperlink" Target="https://docs.oracle.com/en/java/javase/16/docs/api/java.base/java/util/concurrent/BlockingDeque.html" TargetMode="Externa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7.xml"/><Relationship Id="rId3" Type="http://schemas.openxmlformats.org/officeDocument/2006/relationships/image" Target="../media/image8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8.xml"/><Relationship Id="rId3" Type="http://schemas.openxmlformats.org/officeDocument/2006/relationships/image" Target="../media/image7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9.xml"/><Relationship Id="rId3" Type="http://schemas.openxmlformats.org/officeDocument/2006/relationships/hyperlink" Target="https://docs.oracle.com/en/java/javase/16/docs/api/java.base/java/util/concurrent/TransferQueue.html" TargetMode="Externa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0.xml"/><Relationship Id="rId3" Type="http://schemas.openxmlformats.org/officeDocument/2006/relationships/image" Target="../media/image77.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2.xml"/><Relationship Id="rId3" Type="http://schemas.openxmlformats.org/officeDocument/2006/relationships/hyperlink" Target="https://docs.oracle.com/en/java/javase/16/docs/api/java.base/java/util/concurrent/ConcurrentMap.html" TargetMode="Externa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3.xml"/><Relationship Id="rId3" Type="http://schemas.openxmlformats.org/officeDocument/2006/relationships/image" Target="../media/image9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5.xml"/><Relationship Id="rId3" Type="http://schemas.openxmlformats.org/officeDocument/2006/relationships/image" Target="../media/image93.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7.xml"/><Relationship Id="rId3" Type="http://schemas.openxmlformats.org/officeDocument/2006/relationships/hyperlink" Target="https://docs.oracle.com/en/java/javase/16/docs/api/java.base/java/lang/ThreadLocal.html" TargetMode="Externa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8.xml"/><Relationship Id="rId3" Type="http://schemas.openxmlformats.org/officeDocument/2006/relationships/image" Target="../media/image74.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9.xml"/><Relationship Id="rId3" Type="http://schemas.openxmlformats.org/officeDocument/2006/relationships/image" Target="../media/image79.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1.xml"/><Relationship Id="rId3" Type="http://schemas.openxmlformats.org/officeDocument/2006/relationships/hyperlink" Target="https://docs.oracle.com/en/java/javase/16/docs/api/java.base/java/util/concurrent/ThreadLocalRandom.html" TargetMode="Externa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2.xml"/><Relationship Id="rId3" Type="http://schemas.openxmlformats.org/officeDocument/2006/relationships/image" Target="../media/image10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4.xml"/><Relationship Id="rId3" Type="http://schemas.openxmlformats.org/officeDocument/2006/relationships/image" Target="../media/image105.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6.xml"/><Relationship Id="rId3" Type="http://schemas.openxmlformats.org/officeDocument/2006/relationships/hyperlink" Target="https://docs.oracle.com/en/java/javase/16/docs/api/java.base/java/util/concurrent/ForkJoinPool.html" TargetMode="External"/><Relationship Id="rId4" Type="http://schemas.openxmlformats.org/officeDocument/2006/relationships/hyperlink" Target="https://docs.oracle.com/en/java/javase/16/docs/api/java.base/java/util/concurrent/ForkJoinWorkerThread.html" TargetMode="Externa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7.xml"/><Relationship Id="rId3" Type="http://schemas.openxmlformats.org/officeDocument/2006/relationships/image" Target="../media/image86.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9.xml"/><Relationship Id="rId3" Type="http://schemas.openxmlformats.org/officeDocument/2006/relationships/image" Target="../media/image85.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0.xml"/><Relationship Id="rId3" Type="http://schemas.openxmlformats.org/officeDocument/2006/relationships/hyperlink" Target="https://docs.oracle.com/en/java/javase/16/docs/api/java.base/java/util/concurrent/ForkJoinTask.html" TargetMode="Externa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1.xml"/><Relationship Id="rId3" Type="http://schemas.openxmlformats.org/officeDocument/2006/relationships/hyperlink" Target="https://docs.oracle.com/en/java/javase/16/docs/api/java.base/java/util/concurrent/RecursiveAction.html" TargetMode="External"/><Relationship Id="rId4" Type="http://schemas.openxmlformats.org/officeDocument/2006/relationships/hyperlink" Target="https://docs.oracle.com/en/java/javase/16/docs/api/java.base/java/util/concurrent/RecursiveTask.html"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2.xml"/><Relationship Id="rId3" Type="http://schemas.openxmlformats.org/officeDocument/2006/relationships/image" Target="../media/image84.png"/><Relationship Id="rId4" Type="http://schemas.openxmlformats.org/officeDocument/2006/relationships/image" Target="../media/image100.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3.xml"/><Relationship Id="rId3" Type="http://schemas.openxmlformats.org/officeDocument/2006/relationships/image" Target="../media/image96.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4.xml"/><Relationship Id="rId3" Type="http://schemas.openxmlformats.org/officeDocument/2006/relationships/image" Target="../media/image94.png"/><Relationship Id="rId4" Type="http://schemas.openxmlformats.org/officeDocument/2006/relationships/image" Target="../media/image80.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5.xml"/><Relationship Id="rId3" Type="http://schemas.openxmlformats.org/officeDocument/2006/relationships/image" Target="../media/image95.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8.xml"/><Relationship Id="rId3" Type="http://schemas.openxmlformats.org/officeDocument/2006/relationships/image" Target="../media/image87.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0.xml"/><Relationship Id="rId3" Type="http://schemas.openxmlformats.org/officeDocument/2006/relationships/image" Target="../media/image89.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2.xml"/><Relationship Id="rId3" Type="http://schemas.openxmlformats.org/officeDocument/2006/relationships/hyperlink" Target="http://www.reactive-streams.org/" TargetMode="Externa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3.xml"/><Relationship Id="rId3" Type="http://schemas.openxmlformats.org/officeDocument/2006/relationships/hyperlink" Target="https://docs.oracle.com/en/java/javase/16/docs/api/java.base/java/util/concurrent/Flow.html"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4.xml"/><Relationship Id="rId3" Type="http://schemas.openxmlformats.org/officeDocument/2006/relationships/image" Target="../media/image90.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6.xml"/><Relationship Id="rId3" Type="http://schemas.openxmlformats.org/officeDocument/2006/relationships/image" Target="../media/image88.png"/><Relationship Id="rId4" Type="http://schemas.openxmlformats.org/officeDocument/2006/relationships/image" Target="../media/image97.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7.xml"/><Relationship Id="rId3" Type="http://schemas.openxmlformats.org/officeDocument/2006/relationships/image" Target="../media/image9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9.xml"/><Relationship Id="rId3" Type="http://schemas.openxmlformats.org/officeDocument/2006/relationships/image" Target="../media/image103.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0.xml"/><Relationship Id="rId3" Type="http://schemas.openxmlformats.org/officeDocument/2006/relationships/hyperlink" Target="https://docs.oracle.com/en/java/javase/16/docs/api/java.base/java/util/concurrent/Flow.Processor.html" TargetMode="Externa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1.xml"/><Relationship Id="rId3" Type="http://schemas.openxmlformats.org/officeDocument/2006/relationships/image" Target="../media/image99.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2.xml"/><Relationship Id="rId3" Type="http://schemas.openxmlformats.org/officeDocument/2006/relationships/image" Target="../media/image104.png"/><Relationship Id="rId4" Type="http://schemas.openxmlformats.org/officeDocument/2006/relationships/image" Target="../media/image98.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3.xml"/><Relationship Id="rId3" Type="http://schemas.openxmlformats.org/officeDocument/2006/relationships/image" Target="../media/image10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4.xml"/><Relationship Id="rId3" Type="http://schemas.openxmlformats.org/officeDocument/2006/relationships/hyperlink" Target="https://github.com/ReactiveX/RxJava" TargetMode="External"/><Relationship Id="rId4" Type="http://schemas.openxmlformats.org/officeDocument/2006/relationships/hyperlink" Target="https://github.com/reactor/reactor-core"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Java Thread</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indent="-311150" lvl="0" marL="457200" rtl="0" algn="l">
              <a:spcBef>
                <a:spcPts val="0"/>
              </a:spcBef>
              <a:spcAft>
                <a:spcPts val="0"/>
              </a:spcAft>
              <a:buSzPts val="1300"/>
              <a:buChar char="●"/>
            </a:pPr>
            <a:r>
              <a:rPr lang="id"/>
              <a:t>Facebook : </a:t>
            </a:r>
            <a:r>
              <a:rPr lang="id" u="sng">
                <a:solidFill>
                  <a:schemeClr val="hlink"/>
                </a:solidFill>
                <a:hlinkClick r:id="rId5"/>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6"/>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7"/>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8"/>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Dasar</a:t>
            </a:r>
            <a:endParaRPr/>
          </a:p>
          <a:p>
            <a:pPr indent="-311150" lvl="0" marL="457200" rtl="0" algn="l">
              <a:spcBef>
                <a:spcPts val="0"/>
              </a:spcBef>
              <a:spcAft>
                <a:spcPts val="0"/>
              </a:spcAft>
              <a:buSzPts val="1300"/>
              <a:buChar char="●"/>
            </a:pPr>
            <a:r>
              <a:rPr lang="id"/>
              <a:t>Java Object Oriented Programming</a:t>
            </a:r>
            <a:endParaRPr/>
          </a:p>
          <a:p>
            <a:pPr indent="-311150" lvl="0" marL="457200" rtl="0" algn="l">
              <a:spcBef>
                <a:spcPts val="0"/>
              </a:spcBef>
              <a:spcAft>
                <a:spcPts val="0"/>
              </a:spcAft>
              <a:buSzPts val="1300"/>
              <a:buChar char="●"/>
            </a:pPr>
            <a:r>
              <a:rPr lang="id"/>
              <a:t>Java Generic</a:t>
            </a:r>
            <a:endParaRPr/>
          </a:p>
          <a:p>
            <a:pPr indent="-311150" lvl="0" marL="457200" rtl="0" algn="l">
              <a:spcBef>
                <a:spcPts val="0"/>
              </a:spcBef>
              <a:spcAft>
                <a:spcPts val="0"/>
              </a:spcAft>
              <a:buSzPts val="1300"/>
              <a:buChar char="●"/>
            </a:pPr>
            <a:r>
              <a:rPr lang="id"/>
              <a:t>Java Collection &amp; Stream</a:t>
            </a:r>
            <a:endParaRPr/>
          </a:p>
          <a:p>
            <a:pPr indent="-311150" lvl="0" marL="457200" rtl="0" algn="l">
              <a:spcBef>
                <a:spcPts val="0"/>
              </a:spcBef>
              <a:spcAft>
                <a:spcPts val="0"/>
              </a:spcAft>
              <a:buSzPts val="1300"/>
              <a:buChar char="●"/>
            </a:pPr>
            <a:r>
              <a:rPr lang="id"/>
              <a:t>Java Lambda</a:t>
            </a:r>
            <a:endParaRPr/>
          </a:p>
          <a:p>
            <a:pPr indent="-311150" lvl="0" marL="457200" rtl="0" algn="l">
              <a:spcBef>
                <a:spcPts val="0"/>
              </a:spcBef>
              <a:spcAft>
                <a:spcPts val="0"/>
              </a:spcAft>
              <a:buSzPts val="1300"/>
              <a:buChar char="●"/>
            </a:pPr>
            <a:r>
              <a:rPr lang="id"/>
              <a:t>Apache Maven</a:t>
            </a:r>
            <a:endParaRPr/>
          </a:p>
        </p:txBody>
      </p:sp>
      <p:sp>
        <p:nvSpPr>
          <p:cNvPr id="183" name="Google Shape;183;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 Materi Ini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Concurrency</a:t>
            </a:r>
            <a:endParaRPr/>
          </a:p>
          <a:p>
            <a:pPr indent="-311150" lvl="0" marL="457200" rtl="0" algn="l">
              <a:spcBef>
                <a:spcPts val="0"/>
              </a:spcBef>
              <a:spcAft>
                <a:spcPts val="0"/>
              </a:spcAft>
              <a:buSzPts val="1300"/>
              <a:buChar char="●"/>
            </a:pPr>
            <a:r>
              <a:rPr lang="id"/>
              <a:t>Thread</a:t>
            </a:r>
            <a:endParaRPr/>
          </a:p>
          <a:p>
            <a:pPr indent="-311150" lvl="0" marL="457200" rtl="0" algn="l">
              <a:spcBef>
                <a:spcPts val="0"/>
              </a:spcBef>
              <a:spcAft>
                <a:spcPts val="0"/>
              </a:spcAft>
              <a:buSzPts val="1300"/>
              <a:buChar char="●"/>
            </a:pPr>
            <a:r>
              <a:rPr lang="id"/>
              <a:t>Synchronized</a:t>
            </a:r>
            <a:endParaRPr/>
          </a:p>
          <a:p>
            <a:pPr indent="-311150" lvl="0" marL="457200" rtl="0" algn="l">
              <a:spcBef>
                <a:spcPts val="0"/>
              </a:spcBef>
              <a:spcAft>
                <a:spcPts val="0"/>
              </a:spcAft>
              <a:buSzPts val="1300"/>
              <a:buChar char="●"/>
            </a:pPr>
            <a:r>
              <a:rPr lang="id"/>
              <a:t>Lock</a:t>
            </a:r>
            <a:endParaRPr/>
          </a:p>
          <a:p>
            <a:pPr indent="-311150" lvl="0" marL="457200" rtl="0" algn="l">
              <a:spcBef>
                <a:spcPts val="0"/>
              </a:spcBef>
              <a:spcAft>
                <a:spcPts val="0"/>
              </a:spcAft>
              <a:buSzPts val="1300"/>
              <a:buChar char="●"/>
            </a:pPr>
            <a:r>
              <a:rPr lang="id"/>
              <a:t>Deadlock</a:t>
            </a:r>
            <a:endParaRPr/>
          </a:p>
          <a:p>
            <a:pPr indent="-311150" lvl="0" marL="457200" rtl="0" algn="l">
              <a:spcBef>
                <a:spcPts val="0"/>
              </a:spcBef>
              <a:spcAft>
                <a:spcPts val="0"/>
              </a:spcAft>
              <a:buSzPts val="1300"/>
              <a:buChar char="●"/>
            </a:pPr>
            <a:r>
              <a:rPr lang="id"/>
              <a:t>Race Condition</a:t>
            </a:r>
            <a:endParaRPr/>
          </a:p>
          <a:p>
            <a:pPr indent="-311150" lvl="0" marL="457200" rtl="0" algn="l">
              <a:spcBef>
                <a:spcPts val="0"/>
              </a:spcBef>
              <a:spcAft>
                <a:spcPts val="0"/>
              </a:spcAft>
              <a:buSzPts val="1300"/>
              <a:buChar char="●"/>
            </a:pPr>
            <a:r>
              <a:rPr lang="id"/>
              <a:t>Threadpool</a:t>
            </a:r>
            <a:endParaRPr/>
          </a:p>
          <a:p>
            <a:pPr indent="-311150" lvl="0" marL="457200" rtl="0" algn="l">
              <a:spcBef>
                <a:spcPts val="0"/>
              </a:spcBef>
              <a:spcAft>
                <a:spcPts val="0"/>
              </a:spcAft>
              <a:buSzPts val="1300"/>
              <a:buChar char="●"/>
            </a:pPr>
            <a:r>
              <a:rPr lang="id"/>
              <a:t>ExecutorService</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Concurrency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Sejarah Concurrency</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Dahulu, komputer hanya menjalankan sebuah program pada satu waktu</a:t>
            </a:r>
            <a:endParaRPr/>
          </a:p>
          <a:p>
            <a:pPr indent="-311150" lvl="0" marL="457200" rtl="0" algn="l">
              <a:spcBef>
                <a:spcPts val="0"/>
              </a:spcBef>
              <a:spcAft>
                <a:spcPts val="0"/>
              </a:spcAft>
              <a:buSzPts val="1300"/>
              <a:buChar char="●"/>
            </a:pPr>
            <a:r>
              <a:rPr lang="id"/>
              <a:t>Karena hanya bisa menjalankan satu program pada satu waktu, hal ini tidak efisien dan memakan waktu lama karena hanya bisa mengerjakan satu tugas pada satu waktu</a:t>
            </a:r>
            <a:endParaRPr/>
          </a:p>
          <a:p>
            <a:pPr indent="-311150" lvl="0" marL="457200" rtl="0" algn="l">
              <a:spcBef>
                <a:spcPts val="0"/>
              </a:spcBef>
              <a:spcAft>
                <a:spcPts val="0"/>
              </a:spcAft>
              <a:buSzPts val="1300"/>
              <a:buChar char="●"/>
            </a:pPr>
            <a:r>
              <a:rPr lang="id"/>
              <a:t>Semakin kesini, sistem operasi untuk komputer semakin berkembang, sekarang sistem operasi bisa menjalankan program secara bersamaan dalam proses yang berbeda-beda, terisolasi dan saling independen antar </a:t>
            </a:r>
            <a:r>
              <a:rPr lang="id"/>
              <a:t>program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Sejarah Thread</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Program biasanya berjalan dalam sebuah proses, dan proses akan memiliki resource yang independen dengan proses lain</a:t>
            </a:r>
            <a:endParaRPr/>
          </a:p>
          <a:p>
            <a:pPr indent="-311150" lvl="0" marL="457200" rtl="0" algn="l">
              <a:spcBef>
                <a:spcPts val="0"/>
              </a:spcBef>
              <a:spcAft>
                <a:spcPts val="0"/>
              </a:spcAft>
              <a:buSzPts val="1300"/>
              <a:buChar char="●"/>
            </a:pPr>
            <a:r>
              <a:rPr lang="id"/>
              <a:t>Sekarang, sistem operasi tidak hanya bisa menjalankan multiple proses, namun dalam proses kita bisa menjalankan banyak pekerjaan sekaligus, atau bisa dibilang proses ringan atau lebih dikenal dengan nama Thread</a:t>
            </a:r>
            <a:endParaRPr/>
          </a:p>
          <a:p>
            <a:pPr indent="-311150" lvl="0" marL="457200" rtl="0" algn="l">
              <a:spcBef>
                <a:spcPts val="0"/>
              </a:spcBef>
              <a:spcAft>
                <a:spcPts val="0"/>
              </a:spcAft>
              <a:buSzPts val="1300"/>
              <a:buChar char="●"/>
            </a:pPr>
            <a:r>
              <a:rPr lang="id"/>
              <a:t>Thread membuat proses aplikasi bisa berjalan tidak harus selalu sequential, kita bisa membuat proses aplikasi berjalan menjadi asynchronous atau parallel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Era Multicore</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Sekarang kita sudah ada di zaman multicore, dimana smartphone pun sudah menggunakan multicore</a:t>
            </a:r>
            <a:endParaRPr/>
          </a:p>
          <a:p>
            <a:pPr indent="-311150" lvl="0" marL="457200" rtl="0" algn="l">
              <a:spcBef>
                <a:spcPts val="0"/>
              </a:spcBef>
              <a:spcAft>
                <a:spcPts val="0"/>
              </a:spcAft>
              <a:buSzPts val="1300"/>
              <a:buChar char="●"/>
            </a:pPr>
            <a:r>
              <a:rPr lang="id"/>
              <a:t>Multicore sangat menguntungkan kita karena bisa membuat aplikasi yang bisa menjalankan proses dan thread secara bersamaan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Concurrency vs Parallel</a:t>
            </a:r>
            <a:endParaRPr/>
          </a:p>
        </p:txBody>
      </p:sp>
      <p:sp>
        <p:nvSpPr>
          <p:cNvPr id="218" name="Google Shape;218;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banyak yang bingung dengan concurrency dan parallel, sebenarnya kita tidak perlu terlalu memusingkan hal ini</a:t>
            </a:r>
            <a:endParaRPr/>
          </a:p>
          <a:p>
            <a:pPr indent="-311150" lvl="0" marL="457200" rtl="0" algn="l">
              <a:spcBef>
                <a:spcPts val="0"/>
              </a:spcBef>
              <a:spcAft>
                <a:spcPts val="0"/>
              </a:spcAft>
              <a:buSzPts val="1300"/>
              <a:buChar char="●"/>
            </a:pPr>
            <a:r>
              <a:rPr lang="id"/>
              <a:t>Karena saat ini, kita pasti akan menggunakan keduanya ketika membuat aplikasi</a:t>
            </a:r>
            <a:endParaRPr/>
          </a:p>
          <a:p>
            <a:pPr indent="-311150" lvl="0" marL="457200" rtl="0" algn="l">
              <a:spcBef>
                <a:spcPts val="0"/>
              </a:spcBef>
              <a:spcAft>
                <a:spcPts val="0"/>
              </a:spcAft>
              <a:buSzPts val="1300"/>
              <a:buChar char="●"/>
            </a:pPr>
            <a:r>
              <a:rPr lang="id"/>
              <a:t>Concurrency artinya mengerjakan beberapa pekerjaan satu persatu pada satu waktu</a:t>
            </a:r>
            <a:endParaRPr/>
          </a:p>
          <a:p>
            <a:pPr indent="-311150" lvl="0" marL="457200" rtl="0" algn="l">
              <a:spcBef>
                <a:spcPts val="0"/>
              </a:spcBef>
              <a:spcAft>
                <a:spcPts val="0"/>
              </a:spcAft>
              <a:buSzPts val="1300"/>
              <a:buChar char="●"/>
            </a:pPr>
            <a:r>
              <a:rPr lang="id"/>
              <a:t>Parallel artiya mengerjakan beberapa pekerjaan sekaligus pada satu waktu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Concurrency</a:t>
            </a:r>
            <a:endParaRPr/>
          </a:p>
        </p:txBody>
      </p:sp>
      <p:pic>
        <p:nvPicPr>
          <p:cNvPr id="224" name="Google Shape;224;p35"/>
          <p:cNvPicPr preferRelativeResize="0"/>
          <p:nvPr/>
        </p:nvPicPr>
        <p:blipFill>
          <a:blip r:embed="rId3">
            <a:alphaModFix/>
          </a:blip>
          <a:stretch>
            <a:fillRect/>
          </a:stretch>
        </p:blipFill>
        <p:spPr>
          <a:xfrm>
            <a:off x="152400" y="2006250"/>
            <a:ext cx="8839203" cy="22576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Parallel</a:t>
            </a:r>
            <a:endParaRPr/>
          </a:p>
        </p:txBody>
      </p:sp>
      <p:pic>
        <p:nvPicPr>
          <p:cNvPr id="230" name="Google Shape;230;p36"/>
          <p:cNvPicPr preferRelativeResize="0"/>
          <p:nvPr/>
        </p:nvPicPr>
        <p:blipFill>
          <a:blip r:embed="rId3">
            <a:alphaModFix/>
          </a:blip>
          <a:stretch>
            <a:fillRect/>
          </a:stretch>
        </p:blipFill>
        <p:spPr>
          <a:xfrm>
            <a:off x="1142725" y="2006250"/>
            <a:ext cx="6862157" cy="2984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Concurrency dan Parallel</a:t>
            </a:r>
            <a:endParaRPr/>
          </a:p>
        </p:txBody>
      </p:sp>
      <p:sp>
        <p:nvSpPr>
          <p:cNvPr id="236" name="Google Shape;236;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Browser adalah aplikasi yang concurrent dan parallel</a:t>
            </a:r>
            <a:endParaRPr/>
          </a:p>
          <a:p>
            <a:pPr indent="-311150" lvl="0" marL="457200" rtl="0" algn="l">
              <a:spcBef>
                <a:spcPts val="0"/>
              </a:spcBef>
              <a:spcAft>
                <a:spcPts val="0"/>
              </a:spcAft>
              <a:buSzPts val="1300"/>
              <a:buChar char="●"/>
            </a:pPr>
            <a:r>
              <a:rPr lang="id"/>
              <a:t>Browser akan melakukan proses concurrent ketika membuka web, browser akan melakukan http request, lalu mendownload semua file web (html, css, js) lalu merender dalam bentuk tampilan web</a:t>
            </a:r>
            <a:endParaRPr/>
          </a:p>
          <a:p>
            <a:pPr indent="-311150" lvl="0" marL="457200" rtl="0" algn="l">
              <a:spcBef>
                <a:spcPts val="0"/>
              </a:spcBef>
              <a:spcAft>
                <a:spcPts val="0"/>
              </a:spcAft>
              <a:buSzPts val="1300"/>
              <a:buChar char="●"/>
            </a:pPr>
            <a:r>
              <a:rPr lang="id"/>
              <a:t>Browser akan melakukan proses parallel, ketika kita membuka beberapa tab web, dan juga sambil download beberapa file, dan menonton video dari web streaming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Synchronous vs Asynchronous</a:t>
            </a:r>
            <a:endParaRPr/>
          </a:p>
        </p:txBody>
      </p:sp>
      <p:sp>
        <p:nvSpPr>
          <p:cNvPr id="242" name="Google Shape;242;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aplikasi yang concurrent atau parallel, kadang kita sering menemui istilah synchronous dan asynchronous</a:t>
            </a:r>
            <a:endParaRPr/>
          </a:p>
          <a:p>
            <a:pPr indent="-311150" lvl="0" marL="457200" rtl="0" algn="l">
              <a:spcBef>
                <a:spcPts val="0"/>
              </a:spcBef>
              <a:spcAft>
                <a:spcPts val="0"/>
              </a:spcAft>
              <a:buSzPts val="1300"/>
              <a:buChar char="●"/>
            </a:pPr>
            <a:r>
              <a:rPr lang="id"/>
              <a:t>Tidak perlu bingung dengan istilah tersebut, secara sederhana</a:t>
            </a:r>
            <a:endParaRPr/>
          </a:p>
          <a:p>
            <a:pPr indent="-311150" lvl="0" marL="457200" rtl="0" algn="l">
              <a:spcBef>
                <a:spcPts val="0"/>
              </a:spcBef>
              <a:spcAft>
                <a:spcPts val="0"/>
              </a:spcAft>
              <a:buSzPts val="1300"/>
              <a:buChar char="●"/>
            </a:pPr>
            <a:r>
              <a:rPr lang="id"/>
              <a:t>Synchronous adalah ketika kode program kita berjalan secara sequential, dan semua tahapan ditunggu sampai prosesnya selesai baru akan dieksekusi ke tahapan selanjutnya</a:t>
            </a:r>
            <a:endParaRPr/>
          </a:p>
          <a:p>
            <a:pPr indent="-311150" lvl="0" marL="457200" rtl="0" algn="l">
              <a:spcBef>
                <a:spcPts val="0"/>
              </a:spcBef>
              <a:spcAft>
                <a:spcPts val="0"/>
              </a:spcAft>
              <a:buSzPts val="1300"/>
              <a:buChar char="●"/>
            </a:pPr>
            <a:r>
              <a:rPr lang="id"/>
              <a:t>Sedangkan, Asynchronous artinya ketika kode program kita berjalan dan kita tidak perlu menunggu eksekusi kode tersebut selesai, kita bisa lanjutkan ke tahapan kode program selanjutnya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Synchronous</a:t>
            </a:r>
            <a:endParaRPr/>
          </a:p>
        </p:txBody>
      </p:sp>
      <p:pic>
        <p:nvPicPr>
          <p:cNvPr id="248" name="Google Shape;248;p39"/>
          <p:cNvPicPr preferRelativeResize="0"/>
          <p:nvPr/>
        </p:nvPicPr>
        <p:blipFill>
          <a:blip r:embed="rId3">
            <a:alphaModFix/>
          </a:blip>
          <a:stretch>
            <a:fillRect/>
          </a:stretch>
        </p:blipFill>
        <p:spPr>
          <a:xfrm>
            <a:off x="1630238" y="2006250"/>
            <a:ext cx="5883515" cy="2984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Asynchronous</a:t>
            </a:r>
            <a:endParaRPr/>
          </a:p>
        </p:txBody>
      </p:sp>
      <p:pic>
        <p:nvPicPr>
          <p:cNvPr id="254" name="Google Shape;254;p40"/>
          <p:cNvPicPr preferRelativeResize="0"/>
          <p:nvPr/>
        </p:nvPicPr>
        <p:blipFill>
          <a:blip r:embed="rId3">
            <a:alphaModFix/>
          </a:blip>
          <a:stretch>
            <a:fillRect/>
          </a:stretch>
        </p:blipFill>
        <p:spPr>
          <a:xfrm>
            <a:off x="1780688" y="2006250"/>
            <a:ext cx="5582623" cy="298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 Maven</a:t>
            </a:r>
            <a:endParaRPr/>
          </a:p>
        </p:txBody>
      </p:sp>
      <p:sp>
        <p:nvSpPr>
          <p:cNvPr id="265" name="Google Shape;265;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u="sng">
                <a:solidFill>
                  <a:schemeClr val="hlink"/>
                </a:solidFill>
                <a:hlinkClick r:id="rId3"/>
              </a:rPr>
              <a:t>https://start.spring.io/</a:t>
            </a:r>
            <a:r>
              <a:rPr lang="id"/>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a:t>
            </a:r>
            <a:endParaRPr/>
          </a:p>
        </p:txBody>
      </p:sp>
      <p:sp>
        <p:nvSpPr>
          <p:cNvPr id="276" name="Google Shape;276;p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implementasi Concurrency dan Parallel dapat menggunakan Thread</a:t>
            </a:r>
            <a:endParaRPr/>
          </a:p>
          <a:p>
            <a:pPr indent="-311150" lvl="0" marL="457200" rtl="0" algn="l">
              <a:spcBef>
                <a:spcPts val="0"/>
              </a:spcBef>
              <a:spcAft>
                <a:spcPts val="0"/>
              </a:spcAft>
              <a:buSzPts val="1300"/>
              <a:buChar char="●"/>
            </a:pPr>
            <a:r>
              <a:rPr lang="id"/>
              <a:t>Thread direpresentasikan oleh class bernama Thread di package java.lang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Utama</a:t>
            </a:r>
            <a:endParaRPr/>
          </a:p>
        </p:txBody>
      </p:sp>
      <p:sp>
        <p:nvSpPr>
          <p:cNvPr id="282" name="Google Shape;282;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saat sebuah aplikasi Java berjalan, minimal akan ada satu thread yang berjalan</a:t>
            </a:r>
            <a:endParaRPr/>
          </a:p>
          <a:p>
            <a:pPr indent="-311150" lvl="0" marL="457200" rtl="0" algn="l">
              <a:spcBef>
                <a:spcPts val="0"/>
              </a:spcBef>
              <a:spcAft>
                <a:spcPts val="0"/>
              </a:spcAft>
              <a:buSzPts val="1300"/>
              <a:buChar char="●"/>
            </a:pPr>
            <a:r>
              <a:rPr lang="id"/>
              <a:t>Dalam aplikasi Java biasa, biasanya kode program kita akan berjalan di dalam thread yang bernama main</a:t>
            </a:r>
            <a:endParaRPr/>
          </a:p>
          <a:p>
            <a:pPr indent="-311150" lvl="0" marL="457200" rtl="0" algn="l">
              <a:spcBef>
                <a:spcPts val="0"/>
              </a:spcBef>
              <a:spcAft>
                <a:spcPts val="0"/>
              </a:spcAft>
              <a:buSzPts val="1300"/>
              <a:buChar char="●"/>
            </a:pPr>
            <a:r>
              <a:rPr lang="id"/>
              <a:t>Bahkan di Unit Test pun, memiliki thread sendiri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 Utama</a:t>
            </a:r>
            <a:endParaRPr/>
          </a:p>
        </p:txBody>
      </p:sp>
      <p:pic>
        <p:nvPicPr>
          <p:cNvPr id="288" name="Google Shape;288;p46"/>
          <p:cNvPicPr preferRelativeResize="0"/>
          <p:nvPr/>
        </p:nvPicPr>
        <p:blipFill>
          <a:blip r:embed="rId3">
            <a:alphaModFix/>
          </a:blip>
          <a:stretch>
            <a:fillRect/>
          </a:stretch>
        </p:blipFill>
        <p:spPr>
          <a:xfrm>
            <a:off x="152400" y="2006250"/>
            <a:ext cx="8839202" cy="2046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Thread</a:t>
            </a:r>
            <a:endParaRPr/>
          </a:p>
        </p:txBody>
      </p:sp>
      <p:sp>
        <p:nvSpPr>
          <p:cNvPr id="294" name="Google Shape;294;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Thread merupakan proses ringan, membuat Thread bukan berarti kita melakukan pekerjaan</a:t>
            </a:r>
            <a:endParaRPr/>
          </a:p>
          <a:p>
            <a:pPr indent="-311150" lvl="0" marL="457200" rtl="0" algn="l">
              <a:spcBef>
                <a:spcPts val="0"/>
              </a:spcBef>
              <a:spcAft>
                <a:spcPts val="0"/>
              </a:spcAft>
              <a:buSzPts val="1300"/>
              <a:buChar char="●"/>
            </a:pPr>
            <a:r>
              <a:rPr lang="id"/>
              <a:t>Untuk membuat pekerjaan, kita perlu membuat object dari interface Runnable, selanjutnya object Runnable tersebut bisa kita berikan ke Thread untuk dijalankan</a:t>
            </a:r>
            <a:endParaRPr/>
          </a:p>
          <a:p>
            <a:pPr indent="-311150" lvl="0" marL="457200" rtl="0" algn="l">
              <a:spcBef>
                <a:spcPts val="0"/>
              </a:spcBef>
              <a:spcAft>
                <a:spcPts val="0"/>
              </a:spcAft>
              <a:buSzPts val="1300"/>
              <a:buChar char="●"/>
            </a:pPr>
            <a:r>
              <a:rPr lang="id"/>
              <a:t>Saat Thread berjalan, dia akan berjalan secara asynchronous, artinya dia akan berjalan sendiri, dan kode program kita akan berlanjut ke kode program selanjutnya</a:t>
            </a:r>
            <a:endParaRPr/>
          </a:p>
          <a:p>
            <a:pPr indent="-311150" lvl="0" marL="457200" rtl="0" algn="l">
              <a:spcBef>
                <a:spcPts val="0"/>
              </a:spcBef>
              <a:spcAft>
                <a:spcPts val="0"/>
              </a:spcAft>
              <a:buSzPts val="1300"/>
              <a:buChar char="●"/>
            </a:pPr>
            <a:r>
              <a:rPr lang="id"/>
              <a:t>Untuk menjalankan Thread, kita bisa memanggil function start() milik Thread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Thread</a:t>
            </a:r>
            <a:endParaRPr/>
          </a:p>
        </p:txBody>
      </p:sp>
      <p:pic>
        <p:nvPicPr>
          <p:cNvPr id="300" name="Google Shape;300;p48"/>
          <p:cNvPicPr preferRelativeResize="0"/>
          <p:nvPr/>
        </p:nvPicPr>
        <p:blipFill>
          <a:blip r:embed="rId3">
            <a:alphaModFix/>
          </a:blip>
          <a:stretch>
            <a:fillRect/>
          </a:stretch>
        </p:blipFill>
        <p:spPr>
          <a:xfrm>
            <a:off x="152400" y="2006250"/>
            <a:ext cx="8839199" cy="226916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Sleep</a:t>
            </a:r>
            <a:endParaRPr/>
          </a:p>
        </p:txBody>
      </p:sp>
      <p:sp>
        <p:nvSpPr>
          <p:cNvPr id="306" name="Google Shape;306;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saat proses development, kada kita butuh melakukan simulasi proses yang berjalan dalam waktu tertentu</a:t>
            </a:r>
            <a:endParaRPr/>
          </a:p>
          <a:p>
            <a:pPr indent="-311150" lvl="0" marL="457200" rtl="0" algn="l">
              <a:spcBef>
                <a:spcPts val="0"/>
              </a:spcBef>
              <a:spcAft>
                <a:spcPts val="0"/>
              </a:spcAft>
              <a:buSzPts val="1300"/>
              <a:buChar char="●"/>
            </a:pPr>
            <a:r>
              <a:rPr lang="id"/>
              <a:t>Untuk melakukan hal ini, kita bisa memanfaatkan fitur Thread Sleep yang terdapat di Java</a:t>
            </a:r>
            <a:endParaRPr/>
          </a:p>
          <a:p>
            <a:pPr indent="-311150" lvl="0" marL="457200" rtl="0" algn="l">
              <a:spcBef>
                <a:spcPts val="0"/>
              </a:spcBef>
              <a:spcAft>
                <a:spcPts val="0"/>
              </a:spcAft>
              <a:buSzPts val="1300"/>
              <a:buChar char="●"/>
            </a:pPr>
            <a:r>
              <a:rPr lang="id"/>
              <a:t>Dengan menggunakan Thread Sleep, kita bisa membuat sebuah thread tertidur dan berhenti dalam waktu yang kita tentukan</a:t>
            </a:r>
            <a:endParaRPr/>
          </a:p>
          <a:p>
            <a:pPr indent="-311150" lvl="0" marL="457200" rtl="0" algn="l">
              <a:spcBef>
                <a:spcPts val="0"/>
              </a:spcBef>
              <a:spcAft>
                <a:spcPts val="0"/>
              </a:spcAft>
              <a:buSzPts val="1300"/>
              <a:buChar char="●"/>
            </a:pPr>
            <a:r>
              <a:rPr lang="id"/>
              <a:t>Untuk melakukan hal ini, kita bisa memanggil static method sleep() di class Thread, maka secara otomatis Thread saat itu dimana memanggil kode sleep() akan tertidur sesuai dengan waktu milisecond yang sudah kita masukkan dalam parameter</a:t>
            </a:r>
            <a:endParaRPr/>
          </a:p>
          <a:p>
            <a:pPr indent="-311150" lvl="0" marL="457200" rtl="0" algn="l">
              <a:spcBef>
                <a:spcPts val="0"/>
              </a:spcBef>
              <a:spcAft>
                <a:spcPts val="0"/>
              </a:spcAft>
              <a:buSzPts val="1300"/>
              <a:buChar char="●"/>
            </a:pPr>
            <a:r>
              <a:rPr lang="id"/>
              <a:t>Namun perlu diperhatikan, method sleep bisa menyebabkan error InterruptedException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 Sleep</a:t>
            </a:r>
            <a:endParaRPr/>
          </a:p>
        </p:txBody>
      </p:sp>
      <p:pic>
        <p:nvPicPr>
          <p:cNvPr id="312" name="Google Shape;312;p50"/>
          <p:cNvPicPr preferRelativeResize="0"/>
          <p:nvPr/>
        </p:nvPicPr>
        <p:blipFill>
          <a:blip r:embed="rId3">
            <a:alphaModFix/>
          </a:blip>
          <a:stretch>
            <a:fillRect/>
          </a:stretch>
        </p:blipFill>
        <p:spPr>
          <a:xfrm>
            <a:off x="152400" y="2006250"/>
            <a:ext cx="7985694" cy="29848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Join</a:t>
            </a:r>
            <a:endParaRPr/>
          </a:p>
        </p:txBody>
      </p:sp>
      <p:sp>
        <p:nvSpPr>
          <p:cNvPr id="318" name="Google Shape;318;p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ingin menunggu sampai sebuah thread selesai tugasnya</a:t>
            </a:r>
            <a:endParaRPr/>
          </a:p>
          <a:p>
            <a:pPr indent="-311150" lvl="0" marL="457200" rtl="0" algn="l">
              <a:spcBef>
                <a:spcPts val="0"/>
              </a:spcBef>
              <a:spcAft>
                <a:spcPts val="0"/>
              </a:spcAft>
              <a:buSzPts val="1300"/>
              <a:buChar char="●"/>
            </a:pPr>
            <a:r>
              <a:rPr lang="id"/>
              <a:t>Untuk melakukan hal tersebut, kita bisa memanggil method join milik thread yang akan kita tunggu</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 Join</a:t>
            </a:r>
            <a:endParaRPr/>
          </a:p>
        </p:txBody>
      </p:sp>
      <p:pic>
        <p:nvPicPr>
          <p:cNvPr id="324" name="Google Shape;324;p52"/>
          <p:cNvPicPr preferRelativeResize="0"/>
          <p:nvPr/>
        </p:nvPicPr>
        <p:blipFill>
          <a:blip r:embed="rId3">
            <a:alphaModFix/>
          </a:blip>
          <a:stretch>
            <a:fillRect/>
          </a:stretch>
        </p:blipFill>
        <p:spPr>
          <a:xfrm>
            <a:off x="152400" y="2006250"/>
            <a:ext cx="7940090" cy="29848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a:t>
            </a:r>
            <a:r>
              <a:rPr lang="id"/>
              <a:t>Interrupt</a:t>
            </a:r>
            <a:endParaRPr/>
          </a:p>
        </p:txBody>
      </p:sp>
      <p:sp>
        <p:nvSpPr>
          <p:cNvPr id="330" name="Google Shape;330;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Interrupt merupakan mengirim sinyal ke thread bahwa thread tersebut harus berhenti melakukan pekerjaannya saat ini</a:t>
            </a:r>
            <a:endParaRPr/>
          </a:p>
          <a:p>
            <a:pPr indent="-311150" lvl="0" marL="457200" rtl="0" algn="l">
              <a:spcBef>
                <a:spcPts val="0"/>
              </a:spcBef>
              <a:spcAft>
                <a:spcPts val="0"/>
              </a:spcAft>
              <a:buSzPts val="1300"/>
              <a:buChar char="●"/>
            </a:pPr>
            <a:r>
              <a:rPr lang="id"/>
              <a:t>Untuk melakukan interrupt, kita bisa menggunakan method interrupt() pada thread</a:t>
            </a:r>
            <a:endParaRPr/>
          </a:p>
          <a:p>
            <a:pPr indent="-311150" lvl="0" marL="457200" rtl="0" algn="l">
              <a:spcBef>
                <a:spcPts val="0"/>
              </a:spcBef>
              <a:spcAft>
                <a:spcPts val="0"/>
              </a:spcAft>
              <a:buSzPts val="1300"/>
              <a:buChar char="●"/>
            </a:pPr>
            <a:r>
              <a:rPr lang="id"/>
              <a:t>Saat kita memanggil method interrupt(), secara otomatis Thread.interrupted() akan bernilai true</a:t>
            </a:r>
            <a:endParaRPr/>
          </a:p>
          <a:p>
            <a:pPr indent="-311150" lvl="0" marL="457200" rtl="0" algn="l">
              <a:spcBef>
                <a:spcPts val="0"/>
              </a:spcBef>
              <a:spcAft>
                <a:spcPts val="0"/>
              </a:spcAft>
              <a:buSzPts val="1300"/>
              <a:buChar char="●"/>
            </a:pPr>
            <a:r>
              <a:rPr lang="id"/>
              <a:t>Perlu diingat, kode program kita pada Runnable harus melakukan pengecekan interrupted, jika tidak, sinyal interrupt tidak ada gunanya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Interrupt Thread Salah</a:t>
            </a:r>
            <a:endParaRPr/>
          </a:p>
        </p:txBody>
      </p:sp>
      <p:pic>
        <p:nvPicPr>
          <p:cNvPr id="336" name="Google Shape;336;p54"/>
          <p:cNvPicPr preferRelativeResize="0"/>
          <p:nvPr/>
        </p:nvPicPr>
        <p:blipFill>
          <a:blip r:embed="rId3">
            <a:alphaModFix/>
          </a:blip>
          <a:stretch>
            <a:fillRect/>
          </a:stretch>
        </p:blipFill>
        <p:spPr>
          <a:xfrm>
            <a:off x="152400" y="2006250"/>
            <a:ext cx="4827671" cy="2984850"/>
          </a:xfrm>
          <a:prstGeom prst="rect">
            <a:avLst/>
          </a:prstGeom>
          <a:noFill/>
          <a:ln>
            <a:noFill/>
          </a:ln>
        </p:spPr>
      </p:pic>
      <p:pic>
        <p:nvPicPr>
          <p:cNvPr id="337" name="Google Shape;337;p54"/>
          <p:cNvPicPr preferRelativeResize="0"/>
          <p:nvPr/>
        </p:nvPicPr>
        <p:blipFill>
          <a:blip r:embed="rId4">
            <a:alphaModFix/>
          </a:blip>
          <a:stretch>
            <a:fillRect/>
          </a:stretch>
        </p:blipFill>
        <p:spPr>
          <a:xfrm>
            <a:off x="5132471" y="2006250"/>
            <a:ext cx="3859130" cy="188282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Interrupt Thread</a:t>
            </a:r>
            <a:endParaRPr/>
          </a:p>
        </p:txBody>
      </p:sp>
      <p:pic>
        <p:nvPicPr>
          <p:cNvPr id="343" name="Google Shape;343;p55"/>
          <p:cNvPicPr preferRelativeResize="0"/>
          <p:nvPr/>
        </p:nvPicPr>
        <p:blipFill>
          <a:blip r:embed="rId3">
            <a:alphaModFix/>
          </a:blip>
          <a:stretch>
            <a:fillRect/>
          </a:stretch>
        </p:blipFill>
        <p:spPr>
          <a:xfrm>
            <a:off x="152400" y="2006250"/>
            <a:ext cx="8129194" cy="2984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Interrupt Thread Manual</a:t>
            </a:r>
            <a:endParaRPr/>
          </a:p>
        </p:txBody>
      </p:sp>
      <p:pic>
        <p:nvPicPr>
          <p:cNvPr id="349" name="Google Shape;349;p56"/>
          <p:cNvPicPr preferRelativeResize="0"/>
          <p:nvPr/>
        </p:nvPicPr>
        <p:blipFill>
          <a:blip r:embed="rId3">
            <a:alphaModFix/>
          </a:blip>
          <a:stretch>
            <a:fillRect/>
          </a:stretch>
        </p:blipFill>
        <p:spPr>
          <a:xfrm>
            <a:off x="152400" y="2006250"/>
            <a:ext cx="8616642" cy="2984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Name</a:t>
            </a:r>
            <a:endParaRPr/>
          </a:p>
        </p:txBody>
      </p:sp>
      <p:sp>
        <p:nvSpPr>
          <p:cNvPr id="355" name="Google Shape;355;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thread di Java memiliki nama, ini sangat cocok untuk proses debugging ketika terjadi masalah</a:t>
            </a:r>
            <a:endParaRPr/>
          </a:p>
          <a:p>
            <a:pPr indent="-311150" lvl="0" marL="457200" rtl="0" algn="l">
              <a:spcBef>
                <a:spcPts val="0"/>
              </a:spcBef>
              <a:spcAft>
                <a:spcPts val="0"/>
              </a:spcAft>
              <a:buSzPts val="1300"/>
              <a:buChar char="●"/>
            </a:pPr>
            <a:r>
              <a:rPr lang="id"/>
              <a:t>Thread name secara default akan menggunakan nama Thread-{counter}</a:t>
            </a:r>
            <a:endParaRPr/>
          </a:p>
          <a:p>
            <a:pPr indent="-311150" lvl="0" marL="457200" rtl="0" algn="l">
              <a:spcBef>
                <a:spcPts val="0"/>
              </a:spcBef>
              <a:spcAft>
                <a:spcPts val="0"/>
              </a:spcAft>
              <a:buSzPts val="1300"/>
              <a:buChar char="●"/>
            </a:pPr>
            <a:r>
              <a:rPr lang="id"/>
              <a:t>Namun kita juga bisa mengubahnya dengan menggunakan method setName(name), dan getName() untuk mendapatkan nama thread nya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 Name</a:t>
            </a:r>
            <a:endParaRPr/>
          </a:p>
        </p:txBody>
      </p:sp>
      <p:pic>
        <p:nvPicPr>
          <p:cNvPr id="361" name="Google Shape;361;p58"/>
          <p:cNvPicPr preferRelativeResize="0"/>
          <p:nvPr/>
        </p:nvPicPr>
        <p:blipFill>
          <a:blip r:embed="rId3">
            <a:alphaModFix/>
          </a:blip>
          <a:stretch>
            <a:fillRect/>
          </a:stretch>
        </p:blipFill>
        <p:spPr>
          <a:xfrm>
            <a:off x="152400" y="2006250"/>
            <a:ext cx="8839200" cy="188068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State</a:t>
            </a:r>
            <a:endParaRPr/>
          </a:p>
        </p:txBody>
      </p:sp>
      <p:sp>
        <p:nvSpPr>
          <p:cNvPr id="367" name="Google Shape;367;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Thread di Java memiliki state, state yaitu informasi state sebuah thread</a:t>
            </a:r>
            <a:endParaRPr/>
          </a:p>
          <a:p>
            <a:pPr indent="-311150" lvl="0" marL="457200" rtl="0" algn="l">
              <a:spcBef>
                <a:spcPts val="0"/>
              </a:spcBef>
              <a:spcAft>
                <a:spcPts val="0"/>
              </a:spcAft>
              <a:buSzPts val="1300"/>
              <a:buChar char="●"/>
            </a:pPr>
            <a:r>
              <a:rPr lang="id"/>
              <a:t>State digunakan hanya untuk mendapat informasi</a:t>
            </a:r>
            <a:endParaRPr/>
          </a:p>
          <a:p>
            <a:pPr indent="-311150" lvl="0" marL="457200" rtl="0" algn="l">
              <a:spcBef>
                <a:spcPts val="0"/>
              </a:spcBef>
              <a:spcAft>
                <a:spcPts val="0"/>
              </a:spcAft>
              <a:buSzPts val="1300"/>
              <a:buChar char="●"/>
            </a:pPr>
            <a:r>
              <a:rPr lang="id"/>
              <a:t>State akan berubah statusnya sesuai dengan apa yang terjadi di thread</a:t>
            </a:r>
            <a:endParaRPr/>
          </a:p>
          <a:p>
            <a:pPr indent="-311150" lvl="0" marL="457200" rtl="0" algn="l">
              <a:spcBef>
                <a:spcPts val="0"/>
              </a:spcBef>
              <a:spcAft>
                <a:spcPts val="0"/>
              </a:spcAft>
              <a:buSzPts val="1300"/>
              <a:buChar char="●"/>
            </a:pPr>
            <a:r>
              <a:rPr lang="id"/>
              <a:t>Untuk mendapatkan data state, kita bisa menggunakan method getState() dan akan mengembalikan enum State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 State</a:t>
            </a:r>
            <a:endParaRPr/>
          </a:p>
        </p:txBody>
      </p:sp>
      <p:pic>
        <p:nvPicPr>
          <p:cNvPr id="373" name="Google Shape;373;p60"/>
          <p:cNvPicPr preferRelativeResize="0"/>
          <p:nvPr/>
        </p:nvPicPr>
        <p:blipFill>
          <a:blip r:embed="rId3">
            <a:alphaModFix/>
          </a:blip>
          <a:stretch>
            <a:fillRect/>
          </a:stretch>
        </p:blipFill>
        <p:spPr>
          <a:xfrm>
            <a:off x="152400" y="2006250"/>
            <a:ext cx="8839200" cy="276636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Daemon</a:t>
            </a:r>
            <a:endParaRPr/>
          </a:p>
        </p:txBody>
      </p:sp>
      <p:sp>
        <p:nvSpPr>
          <p:cNvPr id="379" name="Google Shape;379;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saat kita membuat thread, thread tersebut disebut user thread</a:t>
            </a:r>
            <a:endParaRPr/>
          </a:p>
          <a:p>
            <a:pPr indent="-311150" lvl="0" marL="457200" rtl="0" algn="l">
              <a:spcBef>
                <a:spcPts val="0"/>
              </a:spcBef>
              <a:spcAft>
                <a:spcPts val="0"/>
              </a:spcAft>
              <a:buSzPts val="1300"/>
              <a:buChar char="●"/>
            </a:pPr>
            <a:r>
              <a:rPr lang="id"/>
              <a:t>Java (bukan JUnit) secara default akan selalu menunggu semua user thread selesai sebelum program berhenti</a:t>
            </a:r>
            <a:endParaRPr/>
          </a:p>
          <a:p>
            <a:pPr indent="-311150" lvl="0" marL="457200" rtl="0" algn="l">
              <a:spcBef>
                <a:spcPts val="0"/>
              </a:spcBef>
              <a:spcAft>
                <a:spcPts val="0"/>
              </a:spcAft>
              <a:buSzPts val="1300"/>
              <a:buChar char="●"/>
            </a:pPr>
            <a:r>
              <a:rPr lang="id"/>
              <a:t>Jika kita mengubah thread menjadi daemon thread, menggunakan setDaemon(true), maka secara otomatis thread tersebut menjadi daemon thread</a:t>
            </a:r>
            <a:endParaRPr/>
          </a:p>
          <a:p>
            <a:pPr indent="-311150" lvl="0" marL="457200" rtl="0" algn="l">
              <a:spcBef>
                <a:spcPts val="0"/>
              </a:spcBef>
              <a:spcAft>
                <a:spcPts val="0"/>
              </a:spcAft>
              <a:buSzPts val="1300"/>
              <a:buChar char="●"/>
            </a:pPr>
            <a:r>
              <a:rPr lang="id"/>
              <a:t>Daemon thread tidak akan ditunggu jika memang program Java akan berhenti</a:t>
            </a:r>
            <a:endParaRPr/>
          </a:p>
          <a:p>
            <a:pPr indent="-311150" lvl="0" marL="457200" rtl="0" algn="l">
              <a:spcBef>
                <a:spcPts val="0"/>
              </a:spcBef>
              <a:spcAft>
                <a:spcPts val="0"/>
              </a:spcAft>
              <a:buSzPts val="1300"/>
              <a:buChar char="●"/>
            </a:pPr>
            <a:r>
              <a:rPr lang="id"/>
              <a:t>Namun jika kita menghentikan program Java menggunakan System.exit(), maka user thread pun akan otomatis terhenti</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User Thread </a:t>
            </a:r>
            <a:endParaRPr/>
          </a:p>
        </p:txBody>
      </p:sp>
      <p:pic>
        <p:nvPicPr>
          <p:cNvPr id="385" name="Google Shape;385;p62"/>
          <p:cNvPicPr preferRelativeResize="0"/>
          <p:nvPr/>
        </p:nvPicPr>
        <p:blipFill>
          <a:blip r:embed="rId3">
            <a:alphaModFix/>
          </a:blip>
          <a:stretch>
            <a:fillRect/>
          </a:stretch>
        </p:blipFill>
        <p:spPr>
          <a:xfrm>
            <a:off x="152400" y="2006250"/>
            <a:ext cx="7631593" cy="2984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Race Condition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Race Condition</a:t>
            </a:r>
            <a:endParaRPr/>
          </a:p>
        </p:txBody>
      </p:sp>
      <p:sp>
        <p:nvSpPr>
          <p:cNvPr id="396" name="Google Shape;396;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problem yang sering sekali terjadi dalam aplikasi concurrent dan parallel adalah race condition</a:t>
            </a:r>
            <a:endParaRPr/>
          </a:p>
          <a:p>
            <a:pPr indent="-311150" lvl="0" marL="457200" rtl="0" algn="l">
              <a:spcBef>
                <a:spcPts val="0"/>
              </a:spcBef>
              <a:spcAft>
                <a:spcPts val="0"/>
              </a:spcAft>
              <a:buSzPts val="1300"/>
              <a:buChar char="●"/>
            </a:pPr>
            <a:r>
              <a:rPr lang="id"/>
              <a:t>Race condition merupakan keadaan ketika sebuah data diubah secara berbarengan oleh beberapa thread yang menyebabkan hasil akhir yang tidak sesuai dengan yang kita inginkan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Counter</a:t>
            </a:r>
            <a:endParaRPr/>
          </a:p>
        </p:txBody>
      </p:sp>
      <p:pic>
        <p:nvPicPr>
          <p:cNvPr id="402" name="Google Shape;402;p65"/>
          <p:cNvPicPr preferRelativeResize="0"/>
          <p:nvPr/>
        </p:nvPicPr>
        <p:blipFill>
          <a:blip r:embed="rId3">
            <a:alphaModFix/>
          </a:blip>
          <a:stretch>
            <a:fillRect/>
          </a:stretch>
        </p:blipFill>
        <p:spPr>
          <a:xfrm>
            <a:off x="152400" y="2006250"/>
            <a:ext cx="7306546" cy="29848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Race Condition</a:t>
            </a:r>
            <a:endParaRPr/>
          </a:p>
        </p:txBody>
      </p:sp>
      <p:pic>
        <p:nvPicPr>
          <p:cNvPr id="408" name="Google Shape;408;p66"/>
          <p:cNvPicPr preferRelativeResize="0"/>
          <p:nvPr/>
        </p:nvPicPr>
        <p:blipFill>
          <a:blip r:embed="rId3">
            <a:alphaModFix/>
          </a:blip>
          <a:stretch>
            <a:fillRect/>
          </a:stretch>
        </p:blipFill>
        <p:spPr>
          <a:xfrm>
            <a:off x="152400" y="2006250"/>
            <a:ext cx="4056026" cy="2984850"/>
          </a:xfrm>
          <a:prstGeom prst="rect">
            <a:avLst/>
          </a:prstGeom>
          <a:noFill/>
          <a:ln>
            <a:noFill/>
          </a:ln>
        </p:spPr>
      </p:pic>
      <p:pic>
        <p:nvPicPr>
          <p:cNvPr id="409" name="Google Shape;409;p66"/>
          <p:cNvPicPr preferRelativeResize="0"/>
          <p:nvPr/>
        </p:nvPicPr>
        <p:blipFill>
          <a:blip r:embed="rId4">
            <a:alphaModFix/>
          </a:blip>
          <a:stretch>
            <a:fillRect/>
          </a:stretch>
        </p:blipFill>
        <p:spPr>
          <a:xfrm>
            <a:off x="4360826" y="2006250"/>
            <a:ext cx="4404312" cy="2984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Synchronization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Synchronization</a:t>
            </a:r>
            <a:endParaRPr/>
          </a:p>
        </p:txBody>
      </p:sp>
      <p:sp>
        <p:nvSpPr>
          <p:cNvPr id="420" name="Google Shape;420;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Masalah race condition sebelumnya yang terjadi di Java bisa diselesaikan dengan Synchronization</a:t>
            </a:r>
            <a:endParaRPr/>
          </a:p>
          <a:p>
            <a:pPr indent="-311150" lvl="0" marL="457200" rtl="0" algn="l">
              <a:spcBef>
                <a:spcPts val="0"/>
              </a:spcBef>
              <a:spcAft>
                <a:spcPts val="0"/>
              </a:spcAft>
              <a:buSzPts val="1300"/>
              <a:buChar char="●"/>
            </a:pPr>
            <a:r>
              <a:rPr lang="id"/>
              <a:t>Synchronization merupakan fitur dimana kita memaksa kode program hanya boleh diakses dan dieksekusi oleh satu thread saja</a:t>
            </a:r>
            <a:endParaRPr/>
          </a:p>
          <a:p>
            <a:pPr indent="-311150" lvl="0" marL="457200" rtl="0" algn="l">
              <a:spcBef>
                <a:spcPts val="0"/>
              </a:spcBef>
              <a:spcAft>
                <a:spcPts val="0"/>
              </a:spcAft>
              <a:buSzPts val="1300"/>
              <a:buChar char="●"/>
            </a:pPr>
            <a:r>
              <a:rPr lang="id"/>
              <a:t>Hal ini menyebabkan thread yang lain yang akan mengakses kode program tersebut harus menunggu thread yang lebih dahulu mengakses, sehingga proses Synchronization akan lebih lambat, namun proses Synchronization lebih aman karena tidak akan terjadi race condition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Synchronized Method</a:t>
            </a:r>
            <a:endParaRPr/>
          </a:p>
        </p:txBody>
      </p:sp>
      <p:sp>
        <p:nvSpPr>
          <p:cNvPr id="426" name="Google Shape;426;p6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terdapat dua jenis synchronization, yaitu synchronized method dan synchronized statement</a:t>
            </a:r>
            <a:endParaRPr/>
          </a:p>
          <a:p>
            <a:pPr indent="-311150" lvl="0" marL="457200" rtl="0" algn="l">
              <a:spcBef>
                <a:spcPts val="0"/>
              </a:spcBef>
              <a:spcAft>
                <a:spcPts val="0"/>
              </a:spcAft>
              <a:buSzPts val="1300"/>
              <a:buChar char="●"/>
            </a:pPr>
            <a:r>
              <a:rPr lang="id"/>
              <a:t>Synchronized method method merupakan synchronization paling mudah, karena kita hanya perlu menambah kata kunci synchronized pada method yang ingin kita set sebagai synchronization</a:t>
            </a:r>
            <a:endParaRPr/>
          </a:p>
          <a:p>
            <a:pPr indent="-311150" lvl="0" marL="457200" rtl="0" algn="l">
              <a:spcBef>
                <a:spcPts val="0"/>
              </a:spcBef>
              <a:spcAft>
                <a:spcPts val="0"/>
              </a:spcAft>
              <a:buSzPts val="1300"/>
              <a:buChar char="●"/>
            </a:pPr>
            <a:r>
              <a:rPr lang="id"/>
              <a:t>Dengan begitu, secara otomatis method tersebut hanya bisa diakses oleh satu thread pada satu waktu</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Synchronized Method</a:t>
            </a:r>
            <a:endParaRPr/>
          </a:p>
        </p:txBody>
      </p:sp>
      <p:pic>
        <p:nvPicPr>
          <p:cNvPr id="432" name="Google Shape;432;p70"/>
          <p:cNvPicPr preferRelativeResize="0"/>
          <p:nvPr/>
        </p:nvPicPr>
        <p:blipFill>
          <a:blip r:embed="rId3">
            <a:alphaModFix/>
          </a:blip>
          <a:stretch>
            <a:fillRect/>
          </a:stretch>
        </p:blipFill>
        <p:spPr>
          <a:xfrm>
            <a:off x="152400" y="2006250"/>
            <a:ext cx="8554285" cy="298485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Intrinsic Lock</a:t>
            </a:r>
            <a:endParaRPr/>
          </a:p>
        </p:txBody>
      </p:sp>
      <p:sp>
        <p:nvSpPr>
          <p:cNvPr id="438" name="Google Shape;438;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Synchronization</a:t>
            </a:r>
            <a:r>
              <a:rPr lang="id"/>
              <a:t> di Java sebenarnya bekerja menggunakan lock</a:t>
            </a:r>
            <a:endParaRPr/>
          </a:p>
          <a:p>
            <a:pPr indent="-311150" lvl="0" marL="457200" rtl="0" algn="l">
              <a:spcBef>
                <a:spcPts val="0"/>
              </a:spcBef>
              <a:spcAft>
                <a:spcPts val="0"/>
              </a:spcAft>
              <a:buSzPts val="1300"/>
              <a:buChar char="●"/>
            </a:pPr>
            <a:r>
              <a:rPr lang="id"/>
              <a:t>Ketika kita melakukan synchronized method, secara otomatis Java akan membuat intrinsic lock atau monitor lock</a:t>
            </a:r>
            <a:endParaRPr/>
          </a:p>
          <a:p>
            <a:pPr indent="-311150" lvl="0" marL="457200" rtl="0" algn="l">
              <a:spcBef>
                <a:spcPts val="0"/>
              </a:spcBef>
              <a:spcAft>
                <a:spcPts val="0"/>
              </a:spcAft>
              <a:buSzPts val="1300"/>
              <a:buChar char="●"/>
            </a:pPr>
            <a:r>
              <a:rPr lang="id"/>
              <a:t>Ketika synchronized method dipanggil oleh thread, thread akan melakukan mencoba mendapatkan intrinsic lock, setelah method selesai (sukses ataupun error), maka thread akan mengembalikan intrinsic lock</a:t>
            </a:r>
            <a:endParaRPr/>
          </a:p>
          <a:p>
            <a:pPr indent="-311150" lvl="0" marL="457200" rtl="0" algn="l">
              <a:spcBef>
                <a:spcPts val="0"/>
              </a:spcBef>
              <a:spcAft>
                <a:spcPts val="0"/>
              </a:spcAft>
              <a:buSzPts val="1300"/>
              <a:buChar char="●"/>
            </a:pPr>
            <a:r>
              <a:rPr lang="id"/>
              <a:t>Semua itu terjadi sejari secara otomatis di synchronized method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Synchronized Statement</a:t>
            </a:r>
            <a:endParaRPr/>
          </a:p>
        </p:txBody>
      </p:sp>
      <p:sp>
        <p:nvSpPr>
          <p:cNvPr id="444" name="Google Shape;444;p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menggunakan synchronized method, secara otomatis seluruh method akan ter synchronization</a:t>
            </a:r>
            <a:endParaRPr/>
          </a:p>
          <a:p>
            <a:pPr indent="-311150" lvl="0" marL="457200" rtl="0" algn="l">
              <a:spcBef>
                <a:spcPts val="0"/>
              </a:spcBef>
              <a:spcAft>
                <a:spcPts val="0"/>
              </a:spcAft>
              <a:buSzPts val="1300"/>
              <a:buChar char="●"/>
            </a:pPr>
            <a:r>
              <a:rPr lang="id"/>
              <a:t>Kadang, misal kita hanya ingin melakukan synchronized pada bagian kode tertentu saja</a:t>
            </a:r>
            <a:endParaRPr/>
          </a:p>
          <a:p>
            <a:pPr indent="-311150" lvl="0" marL="457200" rtl="0" algn="l">
              <a:spcBef>
                <a:spcPts val="0"/>
              </a:spcBef>
              <a:spcAft>
                <a:spcPts val="0"/>
              </a:spcAft>
              <a:buSzPts val="1300"/>
              <a:buChar char="●"/>
            </a:pPr>
            <a:r>
              <a:rPr lang="id"/>
              <a:t>Untuk melakukan hal tersebut, kita bisa menggunakan synchronized statement</a:t>
            </a:r>
            <a:endParaRPr/>
          </a:p>
          <a:p>
            <a:pPr indent="-311150" lvl="0" marL="457200" rtl="0" algn="l">
              <a:spcBef>
                <a:spcPts val="0"/>
              </a:spcBef>
              <a:spcAft>
                <a:spcPts val="0"/>
              </a:spcAft>
              <a:buSzPts val="1300"/>
              <a:buChar char="●"/>
            </a:pPr>
            <a:r>
              <a:rPr lang="id"/>
              <a:t>Namun ketika kita menggunakan synchronized statement, kita harus menentukan object intrinsic lock sendiri</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Synchronized Statement</a:t>
            </a:r>
            <a:endParaRPr/>
          </a:p>
        </p:txBody>
      </p:sp>
      <p:pic>
        <p:nvPicPr>
          <p:cNvPr id="450" name="Google Shape;450;p73"/>
          <p:cNvPicPr preferRelativeResize="0"/>
          <p:nvPr/>
        </p:nvPicPr>
        <p:blipFill>
          <a:blip r:embed="rId3">
            <a:alphaModFix/>
          </a:blip>
          <a:stretch>
            <a:fillRect/>
          </a:stretch>
        </p:blipFill>
        <p:spPr>
          <a:xfrm>
            <a:off x="152400" y="2006250"/>
            <a:ext cx="7991386" cy="298484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Deadlock</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Deadlock</a:t>
            </a:r>
            <a:endParaRPr/>
          </a:p>
        </p:txBody>
      </p:sp>
      <p:sp>
        <p:nvSpPr>
          <p:cNvPr id="461" name="Google Shape;461;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Race condition sangat mudah diselesaikan dengan synchronization dan lock, namun masalah lain bisa mengintai jika kita salah melakukan synchronization, yaitu Deadlock</a:t>
            </a:r>
            <a:endParaRPr/>
          </a:p>
          <a:p>
            <a:pPr indent="-311150" lvl="0" marL="457200" rtl="0" algn="l">
              <a:spcBef>
                <a:spcPts val="0"/>
              </a:spcBef>
              <a:spcAft>
                <a:spcPts val="0"/>
              </a:spcAft>
              <a:buSzPts val="1300"/>
              <a:buChar char="●"/>
            </a:pPr>
            <a:r>
              <a:rPr lang="id"/>
              <a:t>Deadlock merupakan kondisi dimana beberapa thread saling menunggu satu sama lain karena biasanya terjadi ketika thread tersebut melakukan lock dan menunggu lock lain dari thread lain dan ternyata thread tersebut juga menunggu lock lain</a:t>
            </a:r>
            <a:endParaRPr/>
          </a:p>
          <a:p>
            <a:pPr indent="-311150" lvl="0" marL="457200" rtl="0" algn="l">
              <a:spcBef>
                <a:spcPts val="0"/>
              </a:spcBef>
              <a:spcAft>
                <a:spcPts val="0"/>
              </a:spcAft>
              <a:buSzPts val="1300"/>
              <a:buChar char="●"/>
            </a:pPr>
            <a:r>
              <a:rPr lang="id"/>
              <a:t>Karena saling menunggu, akhirnya terjadi deadlock, keadaan dimana semua thread tidak berjalan karena hanya menunggu lock</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Balance</a:t>
            </a:r>
            <a:endParaRPr/>
          </a:p>
        </p:txBody>
      </p:sp>
      <p:pic>
        <p:nvPicPr>
          <p:cNvPr id="467" name="Google Shape;467;p76"/>
          <p:cNvPicPr preferRelativeResize="0"/>
          <p:nvPr/>
        </p:nvPicPr>
        <p:blipFill>
          <a:blip r:embed="rId3">
            <a:alphaModFix/>
          </a:blip>
          <a:stretch>
            <a:fillRect/>
          </a:stretch>
        </p:blipFill>
        <p:spPr>
          <a:xfrm>
            <a:off x="152400" y="2006250"/>
            <a:ext cx="8200595" cy="29848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Transfer Balance</a:t>
            </a:r>
            <a:endParaRPr/>
          </a:p>
        </p:txBody>
      </p:sp>
      <p:pic>
        <p:nvPicPr>
          <p:cNvPr id="473" name="Google Shape;473;p77"/>
          <p:cNvPicPr preferRelativeResize="0"/>
          <p:nvPr/>
        </p:nvPicPr>
        <p:blipFill>
          <a:blip r:embed="rId3">
            <a:alphaModFix/>
          </a:blip>
          <a:stretch>
            <a:fillRect/>
          </a:stretch>
        </p:blipFill>
        <p:spPr>
          <a:xfrm>
            <a:off x="152400" y="2006250"/>
            <a:ext cx="8839199" cy="271202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Deadlock</a:t>
            </a:r>
            <a:endParaRPr/>
          </a:p>
        </p:txBody>
      </p:sp>
      <p:pic>
        <p:nvPicPr>
          <p:cNvPr id="479" name="Google Shape;479;p78"/>
          <p:cNvPicPr preferRelativeResize="0"/>
          <p:nvPr/>
        </p:nvPicPr>
        <p:blipFill>
          <a:blip r:embed="rId3">
            <a:alphaModFix/>
          </a:blip>
          <a:stretch>
            <a:fillRect/>
          </a:stretch>
        </p:blipFill>
        <p:spPr>
          <a:xfrm>
            <a:off x="152400" y="2006250"/>
            <a:ext cx="4463668" cy="2984851"/>
          </a:xfrm>
          <a:prstGeom prst="rect">
            <a:avLst/>
          </a:prstGeom>
          <a:noFill/>
          <a:ln>
            <a:noFill/>
          </a:ln>
        </p:spPr>
      </p:pic>
      <p:pic>
        <p:nvPicPr>
          <p:cNvPr id="480" name="Google Shape;480;p78"/>
          <p:cNvPicPr preferRelativeResize="0"/>
          <p:nvPr/>
        </p:nvPicPr>
        <p:blipFill>
          <a:blip r:embed="rId4">
            <a:alphaModFix/>
          </a:blip>
          <a:stretch>
            <a:fillRect/>
          </a:stretch>
        </p:blipFill>
        <p:spPr>
          <a:xfrm>
            <a:off x="4768468" y="2006250"/>
            <a:ext cx="4223133" cy="269535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Menangani Deadlock</a:t>
            </a:r>
            <a:endParaRPr/>
          </a:p>
        </p:txBody>
      </p:sp>
      <p:sp>
        <p:nvSpPr>
          <p:cNvPr id="486" name="Google Shape;486;p7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Sayangnya tidak ada cara menyelesaikan masalah deadlock secara otomatis di Java</a:t>
            </a:r>
            <a:endParaRPr/>
          </a:p>
          <a:p>
            <a:pPr indent="-311150" lvl="0" marL="457200" rtl="0" algn="l">
              <a:spcBef>
                <a:spcPts val="0"/>
              </a:spcBef>
              <a:spcAft>
                <a:spcPts val="0"/>
              </a:spcAft>
              <a:buSzPts val="1300"/>
              <a:buChar char="●"/>
            </a:pPr>
            <a:r>
              <a:rPr lang="id"/>
              <a:t>Masalah deadlock harus diselesaikan sendiri oleh programmer yang membuat kode program nya</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Transfer Balance</a:t>
            </a:r>
            <a:endParaRPr/>
          </a:p>
        </p:txBody>
      </p:sp>
      <p:pic>
        <p:nvPicPr>
          <p:cNvPr id="492" name="Google Shape;492;p80"/>
          <p:cNvPicPr preferRelativeResize="0"/>
          <p:nvPr/>
        </p:nvPicPr>
        <p:blipFill>
          <a:blip r:embed="rId3">
            <a:alphaModFix/>
          </a:blip>
          <a:stretch>
            <a:fillRect/>
          </a:stretch>
        </p:blipFill>
        <p:spPr>
          <a:xfrm>
            <a:off x="152400" y="2006250"/>
            <a:ext cx="8839200" cy="27913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Communication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Communication</a:t>
            </a:r>
            <a:endParaRPr/>
          </a:p>
        </p:txBody>
      </p:sp>
      <p:sp>
        <p:nvSpPr>
          <p:cNvPr id="503" name="Google Shape;503;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multithreaded programming, kadang sudah biasa ketika sebuah thread perlu menunggu thread lain menyelesaikan tugas tertentu, baru thread tersebut melakukan tugasnya</a:t>
            </a:r>
            <a:endParaRPr/>
          </a:p>
          <a:p>
            <a:pPr indent="-311150" lvl="0" marL="457200" rtl="0" algn="l">
              <a:spcBef>
                <a:spcPts val="0"/>
              </a:spcBef>
              <a:spcAft>
                <a:spcPts val="0"/>
              </a:spcAft>
              <a:buSzPts val="1300"/>
              <a:buChar char="●"/>
            </a:pPr>
            <a:r>
              <a:rPr lang="id"/>
              <a:t>Sayangnya tidak ada cara otomatis komunikasi antar thread secara langsung</a:t>
            </a:r>
            <a:endParaRPr/>
          </a:p>
          <a:p>
            <a:pPr indent="-311150" lvl="0" marL="457200" rtl="0" algn="l">
              <a:spcBef>
                <a:spcPts val="0"/>
              </a:spcBef>
              <a:spcAft>
                <a:spcPts val="0"/>
              </a:spcAft>
              <a:buSzPts val="1300"/>
              <a:buChar char="●"/>
            </a:pPr>
            <a:r>
              <a:rPr lang="id"/>
              <a:t>Oleh karena itu, programmer harus melakukannya secara manual untuk komunikasi antar thread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 Communication</a:t>
            </a:r>
            <a:endParaRPr/>
          </a:p>
        </p:txBody>
      </p:sp>
      <p:pic>
        <p:nvPicPr>
          <p:cNvPr id="509" name="Google Shape;509;p83"/>
          <p:cNvPicPr preferRelativeResize="0"/>
          <p:nvPr/>
        </p:nvPicPr>
        <p:blipFill>
          <a:blip r:embed="rId3">
            <a:alphaModFix/>
          </a:blip>
          <a:stretch>
            <a:fillRect/>
          </a:stretch>
        </p:blipFill>
        <p:spPr>
          <a:xfrm>
            <a:off x="152400" y="2006250"/>
            <a:ext cx="8198893" cy="2984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Wait dan Notify</a:t>
            </a:r>
            <a:endParaRPr/>
          </a:p>
        </p:txBody>
      </p:sp>
      <p:sp>
        <p:nvSpPr>
          <p:cNvPr id="515" name="Google Shape;515;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Menggunakan loop untuk menunggu sangat tidak direkomendasikan, alasannya buang-buang resource CPU dan juga jika terjadi interrupt, loop akan terus berjalan tanpa henti</a:t>
            </a:r>
            <a:endParaRPr/>
          </a:p>
          <a:p>
            <a:pPr indent="-311150" lvl="0" marL="457200" rtl="0" algn="l">
              <a:spcBef>
                <a:spcPts val="0"/>
              </a:spcBef>
              <a:spcAft>
                <a:spcPts val="0"/>
              </a:spcAft>
              <a:buSzPts val="1300"/>
              <a:buChar char="●"/>
            </a:pPr>
            <a:r>
              <a:rPr lang="id"/>
              <a:t>Java sudah menyediakan solusi yang lebih baik dengan menambahkan method wait dan notify di java.lang.Object</a:t>
            </a:r>
            <a:endParaRPr/>
          </a:p>
          <a:p>
            <a:pPr indent="-311150" lvl="0" marL="457200" rtl="0" algn="l">
              <a:spcBef>
                <a:spcPts val="0"/>
              </a:spcBef>
              <a:spcAft>
                <a:spcPts val="0"/>
              </a:spcAft>
              <a:buSzPts val="1300"/>
              <a:buChar char="●"/>
            </a:pPr>
            <a:r>
              <a:rPr lang="id"/>
              <a:t>Artinya kita bisa membuat object apapun menjadi lock, dan gunakan wait() untuk menunggu, dan gunakan notify() untuk memberitahu bahwa data sudah tersedia</a:t>
            </a:r>
            <a:endParaRPr/>
          </a:p>
          <a:p>
            <a:pPr indent="-311150" lvl="0" marL="457200" rtl="0" algn="l">
              <a:spcBef>
                <a:spcPts val="0"/>
              </a:spcBef>
              <a:spcAft>
                <a:spcPts val="0"/>
              </a:spcAft>
              <a:buSzPts val="1300"/>
              <a:buChar char="●"/>
            </a:pPr>
            <a:r>
              <a:rPr lang="id"/>
              <a:t>notify() akan memberi tahu thread lain yang sedang melakukan wait() bahwa proses bisa dilanjutkan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Wait dan Notify</a:t>
            </a:r>
            <a:endParaRPr/>
          </a:p>
        </p:txBody>
      </p:sp>
      <p:pic>
        <p:nvPicPr>
          <p:cNvPr id="521" name="Google Shape;521;p85"/>
          <p:cNvPicPr preferRelativeResize="0"/>
          <p:nvPr/>
        </p:nvPicPr>
        <p:blipFill>
          <a:blip r:embed="rId3">
            <a:alphaModFix/>
          </a:blip>
          <a:stretch>
            <a:fillRect/>
          </a:stretch>
        </p:blipFill>
        <p:spPr>
          <a:xfrm>
            <a:off x="152400" y="2006250"/>
            <a:ext cx="3300082" cy="2984850"/>
          </a:xfrm>
          <a:prstGeom prst="rect">
            <a:avLst/>
          </a:prstGeom>
          <a:noFill/>
          <a:ln>
            <a:noFill/>
          </a:ln>
        </p:spPr>
      </p:pic>
      <p:pic>
        <p:nvPicPr>
          <p:cNvPr id="522" name="Google Shape;522;p85"/>
          <p:cNvPicPr preferRelativeResize="0"/>
          <p:nvPr/>
        </p:nvPicPr>
        <p:blipFill>
          <a:blip r:embed="rId4">
            <a:alphaModFix/>
          </a:blip>
          <a:stretch>
            <a:fillRect/>
          </a:stretch>
        </p:blipFill>
        <p:spPr>
          <a:xfrm>
            <a:off x="3604882" y="2006250"/>
            <a:ext cx="5386718" cy="258437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Notify All</a:t>
            </a:r>
            <a:endParaRPr/>
          </a:p>
        </p:txBody>
      </p:sp>
      <p:sp>
        <p:nvSpPr>
          <p:cNvPr id="528" name="Google Shape;528;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sebuah lock ditunggu oleh banyak thread, notify() hanya memberi sinyal kepada satu thread saja</a:t>
            </a:r>
            <a:endParaRPr/>
          </a:p>
          <a:p>
            <a:pPr indent="-311150" lvl="0" marL="457200" rtl="0" algn="l">
              <a:spcBef>
                <a:spcPts val="0"/>
              </a:spcBef>
              <a:spcAft>
                <a:spcPts val="0"/>
              </a:spcAft>
              <a:buSzPts val="1300"/>
              <a:buChar char="●"/>
            </a:pPr>
            <a:r>
              <a:rPr lang="id"/>
              <a:t>Jika kita ingin mengirim sinyal ke semua thread, kita bisa menggunakan method notifyAll()</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Notify All</a:t>
            </a:r>
            <a:endParaRPr/>
          </a:p>
        </p:txBody>
      </p:sp>
      <p:pic>
        <p:nvPicPr>
          <p:cNvPr id="534" name="Google Shape;534;p87"/>
          <p:cNvPicPr preferRelativeResize="0"/>
          <p:nvPr/>
        </p:nvPicPr>
        <p:blipFill>
          <a:blip r:embed="rId3">
            <a:alphaModFix/>
          </a:blip>
          <a:stretch>
            <a:fillRect/>
          </a:stretch>
        </p:blipFill>
        <p:spPr>
          <a:xfrm>
            <a:off x="152400" y="2006250"/>
            <a:ext cx="8839200" cy="295232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Timer</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Timer</a:t>
            </a:r>
            <a:endParaRPr/>
          </a:p>
        </p:txBody>
      </p:sp>
      <p:sp>
        <p:nvSpPr>
          <p:cNvPr id="545" name="Google Shape;545;p8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Timer merupakan class untuk memfasilitasi eksekusi job secara asynchronous di masa depan</a:t>
            </a:r>
            <a:endParaRPr/>
          </a:p>
          <a:p>
            <a:pPr indent="-311150" lvl="0" marL="457200" rtl="0" algn="l">
              <a:spcBef>
                <a:spcPts val="0"/>
              </a:spcBef>
              <a:spcAft>
                <a:spcPts val="0"/>
              </a:spcAft>
              <a:buSzPts val="1300"/>
              <a:buChar char="●"/>
            </a:pPr>
            <a:r>
              <a:rPr lang="id"/>
              <a:t>Timer bisa di schedule untuk berjalan satu kali (delayed job), atau bisa berjalan berulang kali (repeated job)</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https://docs.oracle.com/en/java/javase/16/docs/api/java.base/java/util/Timer.html</a:t>
            </a:r>
            <a:r>
              <a:rPr lang="id"/>
              <a:t>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Timer Delayed Job</a:t>
            </a:r>
            <a:endParaRPr/>
          </a:p>
        </p:txBody>
      </p:sp>
      <p:pic>
        <p:nvPicPr>
          <p:cNvPr id="551" name="Google Shape;551;p90"/>
          <p:cNvPicPr preferRelativeResize="0"/>
          <p:nvPr/>
        </p:nvPicPr>
        <p:blipFill>
          <a:blip r:embed="rId3">
            <a:alphaModFix/>
          </a:blip>
          <a:stretch>
            <a:fillRect/>
          </a:stretch>
        </p:blipFill>
        <p:spPr>
          <a:xfrm>
            <a:off x="152400" y="2006250"/>
            <a:ext cx="8839201" cy="247783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Timer Periodic Job</a:t>
            </a:r>
            <a:endParaRPr/>
          </a:p>
        </p:txBody>
      </p:sp>
      <p:pic>
        <p:nvPicPr>
          <p:cNvPr id="557" name="Google Shape;557;p91"/>
          <p:cNvPicPr preferRelativeResize="0"/>
          <p:nvPr/>
        </p:nvPicPr>
        <p:blipFill>
          <a:blip r:embed="rId3">
            <a:alphaModFix/>
          </a:blip>
          <a:stretch>
            <a:fillRect/>
          </a:stretch>
        </p:blipFill>
        <p:spPr>
          <a:xfrm>
            <a:off x="152400" y="2006250"/>
            <a:ext cx="8839200" cy="277954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High Level Concurrency Object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Concurrency Utilities</a:t>
            </a:r>
            <a:endParaRPr/>
          </a:p>
        </p:txBody>
      </p:sp>
      <p:sp>
        <p:nvSpPr>
          <p:cNvPr id="568" name="Google Shape;568;p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versi Java 5, Java merilis fitur yang bernama Concurrency Utilities, fitur ini berisikan dukungan high level API untuk membuat aplikasi multithreaded lebih mudah</a:t>
            </a:r>
            <a:endParaRPr/>
          </a:p>
          <a:p>
            <a:pPr indent="-311150" lvl="0" marL="457200" rtl="0" algn="l">
              <a:spcBef>
                <a:spcPts val="0"/>
              </a:spcBef>
              <a:spcAft>
                <a:spcPts val="0"/>
              </a:spcAft>
              <a:buSzPts val="1300"/>
              <a:buChar char="●"/>
            </a:pPr>
            <a:r>
              <a:rPr lang="id"/>
              <a:t>Concurrency Utilities memperkenalkan 3 packages baru di Java 5, yaitu </a:t>
            </a:r>
            <a:endParaRPr/>
          </a:p>
          <a:p>
            <a:pPr indent="-298450" lvl="1" marL="914400" rtl="0" algn="l">
              <a:spcBef>
                <a:spcPts val="0"/>
              </a:spcBef>
              <a:spcAft>
                <a:spcPts val="0"/>
              </a:spcAft>
              <a:buSzPts val="1100"/>
              <a:buChar char="○"/>
            </a:pPr>
            <a:r>
              <a:rPr lang="id"/>
              <a:t>java.util.concurrent</a:t>
            </a:r>
            <a:endParaRPr/>
          </a:p>
          <a:p>
            <a:pPr indent="-298450" lvl="1" marL="914400" rtl="0" algn="l">
              <a:spcBef>
                <a:spcPts val="0"/>
              </a:spcBef>
              <a:spcAft>
                <a:spcPts val="0"/>
              </a:spcAft>
              <a:buSzPts val="1100"/>
              <a:buChar char="○"/>
            </a:pPr>
            <a:r>
              <a:rPr lang="id"/>
              <a:t>java.util.concurrent.atomic, dan</a:t>
            </a:r>
            <a:endParaRPr/>
          </a:p>
          <a:p>
            <a:pPr indent="-298450" lvl="1" marL="914400" rtl="0" algn="l">
              <a:spcBef>
                <a:spcPts val="0"/>
              </a:spcBef>
              <a:spcAft>
                <a:spcPts val="0"/>
              </a:spcAft>
              <a:buSzPts val="1100"/>
              <a:buChar char="○"/>
            </a:pPr>
            <a:r>
              <a:rPr lang="id"/>
              <a:t>java.util.concurrent.locks</a:t>
            </a:r>
            <a:endParaRPr/>
          </a:p>
          <a:p>
            <a:pPr indent="-311150" lvl="0" marL="457200" rtl="0" algn="l">
              <a:spcBef>
                <a:spcPts val="0"/>
              </a:spcBef>
              <a:spcAft>
                <a:spcPts val="0"/>
              </a:spcAft>
              <a:buSzPts val="1300"/>
              <a:buChar char="●"/>
            </a:pPr>
            <a:r>
              <a:rPr lang="id"/>
              <a:t>Semua package dan fitur tersebut nanti kita akan bahas satu persatu</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Butuh High Level API?</a:t>
            </a:r>
            <a:endParaRPr/>
          </a:p>
        </p:txBody>
      </p:sp>
      <p:sp>
        <p:nvSpPr>
          <p:cNvPr id="574" name="Google Shape;574;p9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Membuat dan melakukan management Thread secara manual di Java bukanlah hal bijak</a:t>
            </a:r>
            <a:endParaRPr/>
          </a:p>
          <a:p>
            <a:pPr indent="-311150" lvl="0" marL="457200" rtl="0" algn="l">
              <a:spcBef>
                <a:spcPts val="0"/>
              </a:spcBef>
              <a:spcAft>
                <a:spcPts val="0"/>
              </a:spcAft>
              <a:buSzPts val="1300"/>
              <a:buChar char="●"/>
            </a:pPr>
            <a:r>
              <a:rPr lang="id"/>
              <a:t>Mudah terjadi kesalahan, terutama seperti yang sudah kita jelaskan, masalah Race Condition dan Deadlock misalnya</a:t>
            </a:r>
            <a:endParaRPr/>
          </a:p>
          <a:p>
            <a:pPr indent="-311150" lvl="0" marL="457200" rtl="0" algn="l">
              <a:spcBef>
                <a:spcPts val="0"/>
              </a:spcBef>
              <a:spcAft>
                <a:spcPts val="0"/>
              </a:spcAft>
              <a:buSzPts val="1300"/>
              <a:buChar char="●"/>
            </a:pPr>
            <a:r>
              <a:rPr lang="id"/>
              <a:t>Selain itu, membuat aplikasi multithreaded menggunakan low level API (menggunakan Thread langsung) tidak terlalu produktif dan flexible</a:t>
            </a:r>
            <a:endParaRPr/>
          </a:p>
          <a:p>
            <a:pPr indent="-311150" lvl="0" marL="457200" rtl="0" algn="l">
              <a:spcBef>
                <a:spcPts val="0"/>
              </a:spcBef>
              <a:spcAft>
                <a:spcPts val="0"/>
              </a:spcAft>
              <a:buSzPts val="1300"/>
              <a:buChar char="●"/>
            </a:pPr>
            <a:r>
              <a:rPr lang="id"/>
              <a:t>Oleh karena itu, dalam pembuatan aplikasi sehari-hari, biasanya kita akan jarang sekali melakukan management thread secara manual, biasanya kita akan gunakan Concurrency Utilities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9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Threadpool</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Management Thread itu Sulit</a:t>
            </a:r>
            <a:endParaRPr/>
          </a:p>
        </p:txBody>
      </p:sp>
      <p:sp>
        <p:nvSpPr>
          <p:cNvPr id="585" name="Google Shape;585;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Thread merupakan object yang sangat mahal, pembuatan object thread bisa memakan memory 512kb - 1mb</a:t>
            </a:r>
            <a:endParaRPr/>
          </a:p>
          <a:p>
            <a:pPr indent="-311150" lvl="0" marL="457200" rtl="0" algn="l">
              <a:spcBef>
                <a:spcPts val="0"/>
              </a:spcBef>
              <a:spcAft>
                <a:spcPts val="0"/>
              </a:spcAft>
              <a:buSzPts val="1300"/>
              <a:buChar char="●"/>
            </a:pPr>
            <a:r>
              <a:rPr lang="id"/>
              <a:t>Jika kita tidak mengatur pembuatan thread, bisa jadi aplikasi kita akan cepat kehabisan memory sehingga bisa menyebabkan error OutOfMemory</a:t>
            </a:r>
            <a:endParaRPr/>
          </a:p>
          <a:p>
            <a:pPr indent="-311150" lvl="0" marL="457200" rtl="0" algn="l">
              <a:spcBef>
                <a:spcPts val="0"/>
              </a:spcBef>
              <a:spcAft>
                <a:spcPts val="0"/>
              </a:spcAft>
              <a:buSzPts val="1300"/>
              <a:buChar char="●"/>
            </a:pPr>
            <a:r>
              <a:rPr lang="id"/>
              <a:t>Selain itu, membuat object thread baru tidak semurah membuat object class biasa, oleh karena itu sebenarnya pembuatan thread secara manual tidaklah disarankan</a:t>
            </a:r>
            <a:endParaRPr/>
          </a:p>
          <a:p>
            <a:pPr indent="-311150" lvl="0" marL="457200" rtl="0" algn="l">
              <a:spcBef>
                <a:spcPts val="0"/>
              </a:spcBef>
              <a:spcAft>
                <a:spcPts val="0"/>
              </a:spcAft>
              <a:buSzPts val="1300"/>
              <a:buChar char="●"/>
            </a:pPr>
            <a:r>
              <a:rPr lang="id"/>
              <a:t>Di versi Java moderen ini, lebih disarankan menggunakan Threadpool untuk management thread</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Threadpool</a:t>
            </a:r>
            <a:endParaRPr/>
          </a:p>
        </p:txBody>
      </p:sp>
      <p:sp>
        <p:nvSpPr>
          <p:cNvPr id="591" name="Google Shape;591;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Threadpool merupakan class yang digunakan untuk management thread</a:t>
            </a:r>
            <a:endParaRPr/>
          </a:p>
          <a:p>
            <a:pPr indent="-311150" lvl="0" marL="457200" rtl="0" algn="l">
              <a:spcBef>
                <a:spcPts val="0"/>
              </a:spcBef>
              <a:spcAft>
                <a:spcPts val="0"/>
              </a:spcAft>
              <a:buSzPts val="1300"/>
              <a:buChar char="●"/>
            </a:pPr>
            <a:r>
              <a:rPr lang="id"/>
              <a:t>Dengan threadpool, kita tidak perlu membuat thread secara manual, karena semua sudah diatur oleh threadpool</a:t>
            </a:r>
            <a:endParaRPr/>
          </a:p>
          <a:p>
            <a:pPr indent="-311150" lvl="0" marL="457200" rtl="0" algn="l">
              <a:spcBef>
                <a:spcPts val="0"/>
              </a:spcBef>
              <a:spcAft>
                <a:spcPts val="0"/>
              </a:spcAft>
              <a:buSzPts val="1300"/>
              <a:buChar char="●"/>
            </a:pPr>
            <a:r>
              <a:rPr lang="id"/>
              <a:t>Selain itu threadpool bisa melakukan </a:t>
            </a:r>
            <a:r>
              <a:rPr lang="id"/>
              <a:t>reusable</a:t>
            </a:r>
            <a:r>
              <a:rPr lang="id"/>
              <a:t> thread yang sudah selesai bekerja</a:t>
            </a:r>
            <a:endParaRPr/>
          </a:p>
          <a:p>
            <a:pPr indent="-311150" lvl="0" marL="457200" rtl="0" algn="l">
              <a:spcBef>
                <a:spcPts val="0"/>
              </a:spcBef>
              <a:spcAft>
                <a:spcPts val="0"/>
              </a:spcAft>
              <a:buSzPts val="1300"/>
              <a:buChar char="●"/>
            </a:pPr>
            <a:r>
              <a:rPr lang="id"/>
              <a:t>Threadpool di Java direpresentasikan dalam class bernama ThreadPoolExecutor</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Pengaturan ThreadPool</a:t>
            </a:r>
            <a:endParaRPr/>
          </a:p>
        </p:txBody>
      </p:sp>
      <p:sp>
        <p:nvSpPr>
          <p:cNvPr id="597" name="Google Shape;597;p9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Ada beberapa yang harus kita atur ketika membuat threadpool</a:t>
            </a:r>
            <a:endParaRPr/>
          </a:p>
          <a:p>
            <a:pPr indent="-311150" lvl="0" marL="457200" rtl="0" algn="l">
              <a:spcBef>
                <a:spcPts val="1600"/>
              </a:spcBef>
              <a:spcAft>
                <a:spcPts val="0"/>
              </a:spcAft>
              <a:buSzPts val="1300"/>
              <a:buChar char="●"/>
            </a:pPr>
            <a:r>
              <a:rPr lang="id"/>
              <a:t>core pool, minimal thread yang akan dibuat ketika threadpool dibuat</a:t>
            </a:r>
            <a:endParaRPr/>
          </a:p>
          <a:p>
            <a:pPr indent="-311150" lvl="0" marL="457200" rtl="0" algn="l">
              <a:spcBef>
                <a:spcPts val="0"/>
              </a:spcBef>
              <a:spcAft>
                <a:spcPts val="0"/>
              </a:spcAft>
              <a:buSzPts val="1300"/>
              <a:buChar char="●"/>
            </a:pPr>
            <a:r>
              <a:rPr lang="id"/>
              <a:t>max pool, maximal thread yang akan dibuat </a:t>
            </a:r>
            <a:endParaRPr/>
          </a:p>
          <a:p>
            <a:pPr indent="-311150" lvl="0" marL="457200" rtl="0" algn="l">
              <a:spcBef>
                <a:spcPts val="0"/>
              </a:spcBef>
              <a:spcAft>
                <a:spcPts val="0"/>
              </a:spcAft>
              <a:buSzPts val="1300"/>
              <a:buChar char="●"/>
            </a:pPr>
            <a:r>
              <a:rPr lang="id"/>
              <a:t>keep alive time, berapa lama thread akan dihapus jika tidak bekerja</a:t>
            </a:r>
            <a:endParaRPr/>
          </a:p>
          <a:p>
            <a:pPr indent="-311150" lvl="0" marL="457200" rtl="0" algn="l">
              <a:spcBef>
                <a:spcPts val="0"/>
              </a:spcBef>
              <a:spcAft>
                <a:spcPts val="0"/>
              </a:spcAft>
              <a:buSzPts val="1300"/>
              <a:buChar char="●"/>
            </a:pPr>
            <a:r>
              <a:rPr lang="id"/>
              <a:t>queue, antrian untuk menampung pekerjaan yang dikirim ke threadpool</a:t>
            </a:r>
            <a:endParaRPr/>
          </a:p>
          <a:p>
            <a:pPr indent="0" lvl="0" marL="0" rtl="0" algn="l">
              <a:spcBef>
                <a:spcPts val="1600"/>
              </a:spcBef>
              <a:spcAft>
                <a:spcPts val="1600"/>
              </a:spcAft>
              <a:buNone/>
            </a:pPr>
            <a:r>
              <a:rPr lang="id" u="sng">
                <a:solidFill>
                  <a:schemeClr val="hlink"/>
                </a:solidFill>
                <a:hlinkClick r:id="rId3"/>
              </a:rPr>
              <a:t>https://docs.oracle.com/en/java/javase/16/docs/api/java.base/java/util/concurrent/ThreadPoolExecutor.html</a:t>
            </a:r>
            <a:r>
              <a:rPr lang="id"/>
              <a:t>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ThreadPool</a:t>
            </a:r>
            <a:endParaRPr/>
          </a:p>
        </p:txBody>
      </p:sp>
      <p:pic>
        <p:nvPicPr>
          <p:cNvPr id="603" name="Google Shape;603;p99"/>
          <p:cNvPicPr preferRelativeResize="0"/>
          <p:nvPr/>
        </p:nvPicPr>
        <p:blipFill>
          <a:blip r:embed="rId3">
            <a:alphaModFix/>
          </a:blip>
          <a:stretch>
            <a:fillRect/>
          </a:stretch>
        </p:blipFill>
        <p:spPr>
          <a:xfrm>
            <a:off x="941963" y="2006250"/>
            <a:ext cx="7260063" cy="29848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ThreadPool</a:t>
            </a:r>
            <a:endParaRPr/>
          </a:p>
        </p:txBody>
      </p:sp>
      <p:pic>
        <p:nvPicPr>
          <p:cNvPr id="609" name="Google Shape;609;p100"/>
          <p:cNvPicPr preferRelativeResize="0"/>
          <p:nvPr/>
        </p:nvPicPr>
        <p:blipFill>
          <a:blip r:embed="rId3">
            <a:alphaModFix/>
          </a:blip>
          <a:stretch>
            <a:fillRect/>
          </a:stretch>
        </p:blipFill>
        <p:spPr>
          <a:xfrm>
            <a:off x="152400" y="2006250"/>
            <a:ext cx="8839202" cy="282381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Eksekusi Runnable</a:t>
            </a:r>
            <a:endParaRPr/>
          </a:p>
        </p:txBody>
      </p:sp>
      <p:sp>
        <p:nvSpPr>
          <p:cNvPr id="615" name="Google Shape;615;p10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melakukan eksekusi Runnable, kita bisa menggunakan method execute() milik threadpool</a:t>
            </a:r>
            <a:endParaRPr/>
          </a:p>
          <a:p>
            <a:pPr indent="-311150" lvl="0" marL="457200" rtl="0" algn="l">
              <a:spcBef>
                <a:spcPts val="0"/>
              </a:spcBef>
              <a:spcAft>
                <a:spcPts val="0"/>
              </a:spcAft>
              <a:buSzPts val="1300"/>
              <a:buChar char="●"/>
            </a:pPr>
            <a:r>
              <a:rPr lang="id"/>
              <a:t>Secara otomatis data runnable akan dikirim ke queue threadpool untuk dieksekusi oleh thread yang terdapat di threadpool</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Eksekusi Runnable</a:t>
            </a:r>
            <a:endParaRPr/>
          </a:p>
        </p:txBody>
      </p:sp>
      <p:pic>
        <p:nvPicPr>
          <p:cNvPr id="621" name="Google Shape;621;p102"/>
          <p:cNvPicPr preferRelativeResize="0"/>
          <p:nvPr/>
        </p:nvPicPr>
        <p:blipFill>
          <a:blip r:embed="rId3">
            <a:alphaModFix/>
          </a:blip>
          <a:stretch>
            <a:fillRect/>
          </a:stretch>
        </p:blipFill>
        <p:spPr>
          <a:xfrm>
            <a:off x="152400" y="2006250"/>
            <a:ext cx="8839199" cy="2809732"/>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Menghentikan ThreadPool</a:t>
            </a:r>
            <a:endParaRPr/>
          </a:p>
        </p:txBody>
      </p:sp>
      <p:sp>
        <p:nvSpPr>
          <p:cNvPr id="627" name="Google Shape;627;p10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sudah selesai menggunakan threadpool, dan tidak akan menggunakannya lagi, ada baiknya kita hentikan dan matikan ThreadPool nya</a:t>
            </a:r>
            <a:endParaRPr/>
          </a:p>
          <a:p>
            <a:pPr indent="-311150" lvl="0" marL="457200" rtl="0" algn="l">
              <a:spcBef>
                <a:spcPts val="0"/>
              </a:spcBef>
              <a:spcAft>
                <a:spcPts val="0"/>
              </a:spcAft>
              <a:buSzPts val="1300"/>
              <a:buChar char="●"/>
            </a:pPr>
            <a:r>
              <a:rPr lang="id"/>
              <a:t>Caranya kita bisa menggunakan method shutdown() untuk menghentikan threadpool, jika ada pekerjaan yang belum dikerjakan, maka akan di ignore</a:t>
            </a:r>
            <a:endParaRPr/>
          </a:p>
          <a:p>
            <a:pPr indent="-311150" lvl="0" marL="457200" rtl="0" algn="l">
              <a:spcBef>
                <a:spcPts val="0"/>
              </a:spcBef>
              <a:spcAft>
                <a:spcPts val="0"/>
              </a:spcAft>
              <a:buSzPts val="1300"/>
              <a:buChar char="●"/>
            </a:pPr>
            <a:r>
              <a:rPr lang="id"/>
              <a:t>Atau gunakan shutdownNow() untuk menghentikan threadpool, namun pekerjaan yang belum dikerjakan akan dikembalikan</a:t>
            </a:r>
            <a:endParaRPr/>
          </a:p>
          <a:p>
            <a:pPr indent="-311150" lvl="0" marL="457200" rtl="0" algn="l">
              <a:spcBef>
                <a:spcPts val="0"/>
              </a:spcBef>
              <a:spcAft>
                <a:spcPts val="0"/>
              </a:spcAft>
              <a:buSzPts val="1300"/>
              <a:buChar char="●"/>
            </a:pPr>
            <a:r>
              <a:rPr lang="id"/>
              <a:t>Atau jika kita ingin menunggu sampai threadpool selesai, kita bisa gunakan awaitTermination()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Menghentikan Threadpool</a:t>
            </a:r>
            <a:endParaRPr/>
          </a:p>
        </p:txBody>
      </p:sp>
      <p:pic>
        <p:nvPicPr>
          <p:cNvPr id="633" name="Google Shape;633;p104"/>
          <p:cNvPicPr preferRelativeResize="0"/>
          <p:nvPr/>
        </p:nvPicPr>
        <p:blipFill>
          <a:blip r:embed="rId3">
            <a:alphaModFix/>
          </a:blip>
          <a:stretch>
            <a:fillRect/>
          </a:stretch>
        </p:blipFill>
        <p:spPr>
          <a:xfrm>
            <a:off x="152400" y="2006250"/>
            <a:ext cx="7404086" cy="29848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Rejected Handler</a:t>
            </a:r>
            <a:endParaRPr/>
          </a:p>
        </p:txBody>
      </p:sp>
      <p:sp>
        <p:nvSpPr>
          <p:cNvPr id="639" name="Google Shape;639;p10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Apa yang terjadi jika queue penuh dan thread juga semua sedang bekerja?</a:t>
            </a:r>
            <a:endParaRPr/>
          </a:p>
          <a:p>
            <a:pPr indent="-311150" lvl="0" marL="457200" rtl="0" algn="l">
              <a:spcBef>
                <a:spcPts val="0"/>
              </a:spcBef>
              <a:spcAft>
                <a:spcPts val="0"/>
              </a:spcAft>
              <a:buSzPts val="1300"/>
              <a:buChar char="●"/>
            </a:pPr>
            <a:r>
              <a:rPr lang="id"/>
              <a:t>Maka secara otomatis akan di handle oleh object RejectedExecutionHandler</a:t>
            </a:r>
            <a:endParaRPr/>
          </a:p>
          <a:p>
            <a:pPr indent="-311150" lvl="0" marL="457200" rtl="0" algn="l">
              <a:spcBef>
                <a:spcPts val="0"/>
              </a:spcBef>
              <a:spcAft>
                <a:spcPts val="0"/>
              </a:spcAft>
              <a:buSzPts val="1300"/>
              <a:buChar char="●"/>
            </a:pPr>
            <a:r>
              <a:rPr lang="id"/>
              <a:t>Secara default, implementasi rejected handler akan akan mengembalikan exception RejectedExecutionException ketika kita submit(Runnable) pada kondisi queue penuh dan thread sedang bekerja semua</a:t>
            </a:r>
            <a:endParaRPr/>
          </a:p>
          <a:p>
            <a:pPr indent="-311150" lvl="0" marL="457200" rtl="0" algn="l">
              <a:spcBef>
                <a:spcPts val="0"/>
              </a:spcBef>
              <a:spcAft>
                <a:spcPts val="0"/>
              </a:spcAft>
              <a:buSzPts val="1300"/>
              <a:buChar char="●"/>
            </a:pPr>
            <a:r>
              <a:rPr lang="id"/>
              <a:t>Jika kita ingin mengubahnya, kita bisa membuat RejectedExecutionHandler sendiri</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LogRejectedExecutionHandler</a:t>
            </a:r>
            <a:endParaRPr/>
          </a:p>
        </p:txBody>
      </p:sp>
      <p:pic>
        <p:nvPicPr>
          <p:cNvPr id="645" name="Google Shape;645;p106"/>
          <p:cNvPicPr preferRelativeResize="0"/>
          <p:nvPr/>
        </p:nvPicPr>
        <p:blipFill>
          <a:blip r:embed="rId3">
            <a:alphaModFix/>
          </a:blip>
          <a:stretch>
            <a:fillRect/>
          </a:stretch>
        </p:blipFill>
        <p:spPr>
          <a:xfrm>
            <a:off x="152400" y="2006250"/>
            <a:ext cx="8839202" cy="234014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Mengubah RejectedExecutionHandler</a:t>
            </a:r>
            <a:endParaRPr/>
          </a:p>
        </p:txBody>
      </p:sp>
      <p:pic>
        <p:nvPicPr>
          <p:cNvPr id="651" name="Google Shape;651;p107"/>
          <p:cNvPicPr preferRelativeResize="0"/>
          <p:nvPr/>
        </p:nvPicPr>
        <p:blipFill>
          <a:blip r:embed="rId3">
            <a:alphaModFix/>
          </a:blip>
          <a:stretch>
            <a:fillRect/>
          </a:stretch>
        </p:blipFill>
        <p:spPr>
          <a:xfrm>
            <a:off x="152400" y="2006250"/>
            <a:ext cx="8643000" cy="29848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Executor Service</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ExecutorService</a:t>
            </a:r>
            <a:endParaRPr/>
          </a:p>
        </p:txBody>
      </p:sp>
      <p:sp>
        <p:nvSpPr>
          <p:cNvPr id="662" name="Google Shape;662;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perhatikan, ThreadPoolExecutor merupakan implementasi dari interface Executor dan ExecutorService</a:t>
            </a:r>
            <a:endParaRPr/>
          </a:p>
          <a:p>
            <a:pPr indent="-311150" lvl="0" marL="457200" rtl="0" algn="l">
              <a:spcBef>
                <a:spcPts val="0"/>
              </a:spcBef>
              <a:spcAft>
                <a:spcPts val="0"/>
              </a:spcAft>
              <a:buSzPts val="1300"/>
              <a:buChar char="●"/>
            </a:pPr>
            <a:r>
              <a:rPr lang="id"/>
              <a:t>Jadi saat kita membuat ThreadPoolExecutor sebenarnya kita membuat Executor Service</a:t>
            </a:r>
            <a:endParaRPr/>
          </a:p>
          <a:p>
            <a:pPr indent="-311150" lvl="0" marL="457200" rtl="0" algn="l">
              <a:spcBef>
                <a:spcPts val="0"/>
              </a:spcBef>
              <a:spcAft>
                <a:spcPts val="0"/>
              </a:spcAft>
              <a:buSzPts val="1300"/>
              <a:buChar char="●"/>
            </a:pPr>
            <a:r>
              <a:rPr lang="id"/>
              <a:t>Dan sebenarnya pembuatan Threadpool secara manual jarang dilakukan, kecuali pada kasus kita benar-benar butuh melakukan tuning Threadpool</a:t>
            </a:r>
            <a:endParaRPr/>
          </a:p>
          <a:p>
            <a:pPr indent="-311150" lvl="0" marL="457200" rtl="0" algn="l">
              <a:spcBef>
                <a:spcPts val="0"/>
              </a:spcBef>
              <a:spcAft>
                <a:spcPts val="0"/>
              </a:spcAft>
              <a:buSzPts val="1300"/>
              <a:buChar char="●"/>
            </a:pPr>
            <a:r>
              <a:rPr lang="id"/>
              <a:t>Namun dalam kebanyakan kasus, kita jarang sekali membuat Threadpool secara manual</a:t>
            </a:r>
            <a:endParaRPr/>
          </a:p>
          <a:p>
            <a:pPr indent="-311150" lvl="0" marL="457200" rtl="0" algn="l">
              <a:spcBef>
                <a:spcPts val="0"/>
              </a:spcBef>
              <a:spcAft>
                <a:spcPts val="0"/>
              </a:spcAft>
              <a:buSzPts val="1300"/>
              <a:buChar char="●"/>
            </a:pPr>
            <a:r>
              <a:rPr lang="id"/>
              <a:t>Rata-rata, biasanya untuk mengeksekusi Runnable, biasanya kita akan menggunakan Executor Service</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https://docs.oracle.com/en/java/javase/16/docs/api/java.base/java/util/concurrent/ExecutorService.html</a:t>
            </a:r>
            <a:r>
              <a:rPr lang="id"/>
              <a:t>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Executors</a:t>
            </a:r>
            <a:endParaRPr/>
          </a:p>
        </p:txBody>
      </p:sp>
      <p:sp>
        <p:nvSpPr>
          <p:cNvPr id="668" name="Google Shape;668;p11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Karena ExecutorService adalah interface, jadi pembuatan object ExecutorService salah satu nya adalah menggunakan ThreadPoolExecutor</a:t>
            </a:r>
            <a:endParaRPr/>
          </a:p>
          <a:p>
            <a:pPr indent="-311150" lvl="0" marL="457200" rtl="0" algn="l">
              <a:spcBef>
                <a:spcPts val="0"/>
              </a:spcBef>
              <a:spcAft>
                <a:spcPts val="0"/>
              </a:spcAft>
              <a:buSzPts val="1300"/>
              <a:buChar char="●"/>
            </a:pPr>
            <a:r>
              <a:rPr lang="id"/>
              <a:t>Namun ada yang lebih mudah, yaitu menggunakan class Executors</a:t>
            </a:r>
            <a:endParaRPr/>
          </a:p>
          <a:p>
            <a:pPr indent="-311150" lvl="0" marL="457200" rtl="0" algn="l">
              <a:spcBef>
                <a:spcPts val="0"/>
              </a:spcBef>
              <a:spcAft>
                <a:spcPts val="0"/>
              </a:spcAft>
              <a:buSzPts val="1300"/>
              <a:buChar char="●"/>
            </a:pPr>
            <a:r>
              <a:rPr lang="id"/>
              <a:t>Executor merupakan class utility untuk membantu kita membuat object ExecutorService secara mudah</a:t>
            </a:r>
            <a:endParaRPr/>
          </a:p>
          <a:p>
            <a:pPr indent="-311150" lvl="0" marL="457200" rtl="0" algn="l">
              <a:spcBef>
                <a:spcPts val="0"/>
              </a:spcBef>
              <a:spcAft>
                <a:spcPts val="0"/>
              </a:spcAft>
              <a:buSzPts val="1300"/>
              <a:buChar char="●"/>
            </a:pPr>
            <a:r>
              <a:rPr lang="id"/>
              <a:t>Sebenarnya implementasi Executors pun menggunakan ThreadPoolExecutor, hanya saja kita tidak perlu terlalu pusing melakukan pengaturan threadpool secara manual</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https://docs.oracle.com/en/java/javase/16/docs/api/java.base/java/util/concurrent/Executors.html</a:t>
            </a:r>
            <a:r>
              <a:rPr lang="id"/>
              <a:t>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Executors Method</a:t>
            </a:r>
            <a:endParaRPr/>
          </a:p>
        </p:txBody>
      </p:sp>
      <p:graphicFrame>
        <p:nvGraphicFramePr>
          <p:cNvPr id="674" name="Google Shape;674;p111"/>
          <p:cNvGraphicFramePr/>
          <p:nvPr/>
        </p:nvGraphicFramePr>
        <p:xfrm>
          <a:off x="952500" y="2190750"/>
          <a:ext cx="3000000" cy="3000000"/>
        </p:xfrm>
        <a:graphic>
          <a:graphicData uri="http://schemas.openxmlformats.org/drawingml/2006/table">
            <a:tbl>
              <a:tblPr>
                <a:noFill/>
                <a:tableStyleId>{9A248044-98C1-494C-B8A0-CC14BB49CBE2}</a:tableStyleId>
              </a:tblPr>
              <a:tblGrid>
                <a:gridCol w="3619500"/>
                <a:gridCol w="3619500"/>
              </a:tblGrid>
              <a:tr h="381000">
                <a:tc>
                  <a:txBody>
                    <a:bodyPr/>
                    <a:lstStyle/>
                    <a:p>
                      <a:pPr indent="0" lvl="0" marL="0" rtl="0" algn="l">
                        <a:spcBef>
                          <a:spcPts val="0"/>
                        </a:spcBef>
                        <a:spcAft>
                          <a:spcPts val="0"/>
                        </a:spcAft>
                        <a:buNone/>
                      </a:pPr>
                      <a:r>
                        <a:rPr lang="id"/>
                        <a:t>Executors Static  Method</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newFixedThreadPool(n)</a:t>
                      </a:r>
                      <a:endParaRPr/>
                    </a:p>
                  </a:txBody>
                  <a:tcPr marT="91425" marB="91425" marR="91425" marL="91425"/>
                </a:tc>
                <a:tc>
                  <a:txBody>
                    <a:bodyPr/>
                    <a:lstStyle/>
                    <a:p>
                      <a:pPr indent="0" lvl="0" marL="0" rtl="0" algn="l">
                        <a:spcBef>
                          <a:spcPts val="0"/>
                        </a:spcBef>
                        <a:spcAft>
                          <a:spcPts val="0"/>
                        </a:spcAft>
                        <a:buNone/>
                      </a:pPr>
                      <a:r>
                        <a:rPr lang="id"/>
                        <a:t>Membuat threadpool dengan jumlah pool min dan max fix</a:t>
                      </a:r>
                      <a:endParaRPr/>
                    </a:p>
                  </a:txBody>
                  <a:tcPr marT="91425" marB="91425" marR="91425" marL="91425"/>
                </a:tc>
              </a:tr>
              <a:tr h="381000">
                <a:tc>
                  <a:txBody>
                    <a:bodyPr/>
                    <a:lstStyle/>
                    <a:p>
                      <a:pPr indent="0" lvl="0" marL="0" rtl="0" algn="l">
                        <a:spcBef>
                          <a:spcPts val="0"/>
                        </a:spcBef>
                        <a:spcAft>
                          <a:spcPts val="0"/>
                        </a:spcAft>
                        <a:buNone/>
                      </a:pPr>
                      <a:r>
                        <a:rPr lang="id"/>
                        <a:t>newSingleThreadExecutor()</a:t>
                      </a:r>
                      <a:endParaRPr/>
                    </a:p>
                  </a:txBody>
                  <a:tcPr marT="91425" marB="91425" marR="91425" marL="91425"/>
                </a:tc>
                <a:tc>
                  <a:txBody>
                    <a:bodyPr/>
                    <a:lstStyle/>
                    <a:p>
                      <a:pPr indent="0" lvl="0" marL="0" rtl="0" algn="l">
                        <a:spcBef>
                          <a:spcPts val="0"/>
                        </a:spcBef>
                        <a:spcAft>
                          <a:spcPts val="0"/>
                        </a:spcAft>
                        <a:buNone/>
                      </a:pPr>
                      <a:r>
                        <a:rPr lang="id"/>
                        <a:t>Membuat threadpool dengan jumlah pool min dan max 1</a:t>
                      </a:r>
                      <a:endParaRPr/>
                    </a:p>
                  </a:txBody>
                  <a:tcPr marT="91425" marB="91425" marR="91425" marL="91425"/>
                </a:tc>
              </a:tr>
              <a:tr h="381000">
                <a:tc>
                  <a:txBody>
                    <a:bodyPr/>
                    <a:lstStyle/>
                    <a:p>
                      <a:pPr indent="0" lvl="0" marL="0" rtl="0" algn="l">
                        <a:spcBef>
                          <a:spcPts val="0"/>
                        </a:spcBef>
                        <a:spcAft>
                          <a:spcPts val="0"/>
                        </a:spcAft>
                        <a:buNone/>
                      </a:pPr>
                      <a:r>
                        <a:rPr lang="id"/>
                        <a:t>newCacheThreadPool()</a:t>
                      </a:r>
                      <a:endParaRPr/>
                    </a:p>
                  </a:txBody>
                  <a:tcPr marT="91425" marB="91425" marR="91425" marL="91425"/>
                </a:tc>
                <a:tc>
                  <a:txBody>
                    <a:bodyPr/>
                    <a:lstStyle/>
                    <a:p>
                      <a:pPr indent="0" lvl="0" marL="0" rtl="0" algn="l">
                        <a:spcBef>
                          <a:spcPts val="0"/>
                        </a:spcBef>
                        <a:spcAft>
                          <a:spcPts val="0"/>
                        </a:spcAft>
                        <a:buNone/>
                      </a:pPr>
                      <a:r>
                        <a:rPr lang="id"/>
                        <a:t>Membuat threadpool dengan jumlah thread bisa bertambah tidak terhingga</a:t>
                      </a:r>
                      <a:endParaRPr/>
                    </a:p>
                  </a:txBody>
                  <a:tcPr marT="91425" marB="91425" marR="91425" marL="91425"/>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ExecutorService</a:t>
            </a:r>
            <a:endParaRPr/>
          </a:p>
        </p:txBody>
      </p:sp>
      <p:pic>
        <p:nvPicPr>
          <p:cNvPr id="680" name="Google Shape;680;p112"/>
          <p:cNvPicPr preferRelativeResize="0"/>
          <p:nvPr/>
        </p:nvPicPr>
        <p:blipFill>
          <a:blip r:embed="rId3">
            <a:alphaModFix/>
          </a:blip>
          <a:stretch>
            <a:fillRect/>
          </a:stretch>
        </p:blipFill>
        <p:spPr>
          <a:xfrm>
            <a:off x="152400" y="2006250"/>
            <a:ext cx="7637707" cy="2984851"/>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Queue Executors</a:t>
            </a:r>
            <a:endParaRPr/>
          </a:p>
        </p:txBody>
      </p:sp>
      <p:sp>
        <p:nvSpPr>
          <p:cNvPr id="686" name="Google Shape;686;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Hati-hati ketika membuat ExecutorService menggunakan Executors class</a:t>
            </a:r>
            <a:endParaRPr/>
          </a:p>
          <a:p>
            <a:pPr indent="-311150" lvl="0" marL="457200" rtl="0" algn="l">
              <a:spcBef>
                <a:spcPts val="0"/>
              </a:spcBef>
              <a:spcAft>
                <a:spcPts val="0"/>
              </a:spcAft>
              <a:buSzPts val="1300"/>
              <a:buChar char="●"/>
            </a:pPr>
            <a:r>
              <a:rPr lang="id"/>
              <a:t>Karena rata-rata Threadpool yang dibuat memiliki kapasitas queue tidak terbatas</a:t>
            </a:r>
            <a:endParaRPr/>
          </a:p>
          <a:p>
            <a:pPr indent="-311150" lvl="0" marL="457200" rtl="0" algn="l">
              <a:spcBef>
                <a:spcPts val="0"/>
              </a:spcBef>
              <a:spcAft>
                <a:spcPts val="0"/>
              </a:spcAft>
              <a:buSzPts val="1300"/>
              <a:buChar char="●"/>
            </a:pPr>
            <a:r>
              <a:rPr lang="id"/>
              <a:t>Artinya jika terlalu banyak Runnable task di dalam queue, maka memori penyimpanan yang akan terpakai akan semakin besar</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1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Future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Callable&lt;T&gt;</a:t>
            </a:r>
            <a:endParaRPr/>
          </a:p>
        </p:txBody>
      </p:sp>
      <p:sp>
        <p:nvSpPr>
          <p:cNvPr id="697" name="Google Shape;697;p1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selalu menggunakan Runnable untuk mengirim perintah ke thread, namun pada Runnable, setelah pekerjaan selesai, tidak ada data yang dikembalikan sama sekali, karena method nya return void</a:t>
            </a:r>
            <a:endParaRPr/>
          </a:p>
          <a:p>
            <a:pPr indent="-311150" lvl="0" marL="457200" rtl="0" algn="l">
              <a:spcBef>
                <a:spcPts val="0"/>
              </a:spcBef>
              <a:spcAft>
                <a:spcPts val="0"/>
              </a:spcAft>
              <a:buSzPts val="1300"/>
              <a:buChar char="●"/>
            </a:pPr>
            <a:r>
              <a:rPr lang="id"/>
              <a:t>Callable mirip dengan Runnable, namun Callable mengembalikan data</a:t>
            </a:r>
            <a:endParaRPr/>
          </a:p>
          <a:p>
            <a:pPr indent="-311150" lvl="0" marL="457200" rtl="0" algn="l">
              <a:spcBef>
                <a:spcPts val="0"/>
              </a:spcBef>
              <a:spcAft>
                <a:spcPts val="0"/>
              </a:spcAft>
              <a:buSzPts val="1300"/>
              <a:buChar char="●"/>
            </a:pPr>
            <a:r>
              <a:rPr lang="id"/>
              <a:t>Selain itu Callable merupakan generic type, sehingga kita bisa tentukan tipe return data nya</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Future&lt;T&gt;</a:t>
            </a:r>
            <a:endParaRPr sz="2700"/>
          </a:p>
        </p:txBody>
      </p:sp>
      <p:sp>
        <p:nvSpPr>
          <p:cNvPr id="703" name="Google Shape;703;p1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ingin mengeksekusi callable, kita bisa menggunakan method submit(Callable) pada ExecutorService, method submit(Callable) tersebut akan mengembalikan Future&lt;T&gt;</a:t>
            </a:r>
            <a:endParaRPr/>
          </a:p>
          <a:p>
            <a:pPr indent="-311150" lvl="0" marL="457200" rtl="0" algn="l">
              <a:spcBef>
                <a:spcPts val="0"/>
              </a:spcBef>
              <a:spcAft>
                <a:spcPts val="0"/>
              </a:spcAft>
              <a:buSzPts val="1300"/>
              <a:buChar char="●"/>
            </a:pPr>
            <a:r>
              <a:rPr lang="id"/>
              <a:t>Future merupakan representasi data yang akan dikembalikan oleh proses asynchronous</a:t>
            </a:r>
            <a:endParaRPr/>
          </a:p>
          <a:p>
            <a:pPr indent="-311150" lvl="0" marL="457200" rtl="0" algn="l">
              <a:spcBef>
                <a:spcPts val="0"/>
              </a:spcBef>
              <a:spcAft>
                <a:spcPts val="0"/>
              </a:spcAft>
              <a:buSzPts val="1300"/>
              <a:buChar char="●"/>
            </a:pPr>
            <a:r>
              <a:rPr lang="id"/>
              <a:t>Menggunakan Future, kita bisa mengecek apakah pekerjaan Callable sudah selesai atau belum, dan juga mendapat data hasil dari Callable</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Future Method</a:t>
            </a:r>
            <a:endParaRPr/>
          </a:p>
        </p:txBody>
      </p:sp>
      <p:graphicFrame>
        <p:nvGraphicFramePr>
          <p:cNvPr id="709" name="Google Shape;709;p117"/>
          <p:cNvGraphicFramePr/>
          <p:nvPr/>
        </p:nvGraphicFramePr>
        <p:xfrm>
          <a:off x="952500" y="1926450"/>
          <a:ext cx="3000000" cy="3000000"/>
        </p:xfrm>
        <a:graphic>
          <a:graphicData uri="http://schemas.openxmlformats.org/drawingml/2006/table">
            <a:tbl>
              <a:tblPr>
                <a:noFill/>
                <a:tableStyleId>{9A248044-98C1-494C-B8A0-CC14BB49CBE2}</a:tableStyleId>
              </a:tblPr>
              <a:tblGrid>
                <a:gridCol w="2414375"/>
                <a:gridCol w="4824625"/>
              </a:tblGrid>
              <a:tr h="381000">
                <a:tc>
                  <a:txBody>
                    <a:bodyPr/>
                    <a:lstStyle/>
                    <a:p>
                      <a:pPr indent="0" lvl="0" marL="0" rtl="0" algn="l">
                        <a:spcBef>
                          <a:spcPts val="0"/>
                        </a:spcBef>
                        <a:spcAft>
                          <a:spcPts val="0"/>
                        </a:spcAft>
                        <a:buNone/>
                      </a:pPr>
                      <a:r>
                        <a:rPr lang="id"/>
                        <a:t>Future Method</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T get()</a:t>
                      </a:r>
                      <a:endParaRPr/>
                    </a:p>
                  </a:txBody>
                  <a:tcPr marT="91425" marB="91425" marR="91425" marL="91425"/>
                </a:tc>
                <a:tc>
                  <a:txBody>
                    <a:bodyPr/>
                    <a:lstStyle/>
                    <a:p>
                      <a:pPr indent="0" lvl="0" marL="0" rtl="0" algn="l">
                        <a:spcBef>
                          <a:spcPts val="0"/>
                        </a:spcBef>
                        <a:spcAft>
                          <a:spcPts val="0"/>
                        </a:spcAft>
                        <a:buNone/>
                      </a:pPr>
                      <a:r>
                        <a:rPr lang="id"/>
                        <a:t>Mengambil result data, jika belum ada, maka akan menunggu sampai ada</a:t>
                      </a:r>
                      <a:endParaRPr/>
                    </a:p>
                  </a:txBody>
                  <a:tcPr marT="91425" marB="91425" marR="91425" marL="91425"/>
                </a:tc>
              </a:tr>
              <a:tr h="381000">
                <a:tc>
                  <a:txBody>
                    <a:bodyPr/>
                    <a:lstStyle/>
                    <a:p>
                      <a:pPr indent="0" lvl="0" marL="0" rtl="0" algn="l">
                        <a:spcBef>
                          <a:spcPts val="0"/>
                        </a:spcBef>
                        <a:spcAft>
                          <a:spcPts val="0"/>
                        </a:spcAft>
                        <a:buNone/>
                      </a:pPr>
                      <a:r>
                        <a:rPr lang="id"/>
                        <a:t>T get(timeout, time unit)</a:t>
                      </a:r>
                      <a:endParaRPr/>
                    </a:p>
                  </a:txBody>
                  <a:tcPr marT="91425" marB="91425" marR="91425" marL="91425"/>
                </a:tc>
                <a:tc>
                  <a:txBody>
                    <a:bodyPr/>
                    <a:lstStyle/>
                    <a:p>
                      <a:pPr indent="0" lvl="0" marL="0" rtl="0" algn="l">
                        <a:spcBef>
                          <a:spcPts val="0"/>
                        </a:spcBef>
                        <a:spcAft>
                          <a:spcPts val="0"/>
                        </a:spcAft>
                        <a:buNone/>
                      </a:pPr>
                      <a:r>
                        <a:rPr lang="id"/>
                        <a:t>Mengambil result data, jika belum ada, maka akan menunggu sampai timeout</a:t>
                      </a:r>
                      <a:endParaRPr/>
                    </a:p>
                  </a:txBody>
                  <a:tcPr marT="91425" marB="91425" marR="91425" marL="91425"/>
                </a:tc>
              </a:tr>
              <a:tr h="381000">
                <a:tc>
                  <a:txBody>
                    <a:bodyPr/>
                    <a:lstStyle/>
                    <a:p>
                      <a:pPr indent="0" lvl="0" marL="0" rtl="0" algn="l">
                        <a:spcBef>
                          <a:spcPts val="0"/>
                        </a:spcBef>
                        <a:spcAft>
                          <a:spcPts val="0"/>
                        </a:spcAft>
                        <a:buNone/>
                      </a:pPr>
                      <a:r>
                        <a:rPr lang="id"/>
                        <a:t>void cancel(mayInterrupt)</a:t>
                      </a:r>
                      <a:endParaRPr/>
                    </a:p>
                  </a:txBody>
                  <a:tcPr marT="91425" marB="91425" marR="91425" marL="91425"/>
                </a:tc>
                <a:tc>
                  <a:txBody>
                    <a:bodyPr/>
                    <a:lstStyle/>
                    <a:p>
                      <a:pPr indent="0" lvl="0" marL="0" rtl="0" algn="l">
                        <a:spcBef>
                          <a:spcPts val="0"/>
                        </a:spcBef>
                        <a:spcAft>
                          <a:spcPts val="0"/>
                        </a:spcAft>
                        <a:buNone/>
                      </a:pPr>
                      <a:r>
                        <a:rPr lang="id"/>
                        <a:t>Membatalkan proses callable, dan apakah diperbolehkan di interrupt jika sudah terlanjur berjalan</a:t>
                      </a:r>
                      <a:endParaRPr/>
                    </a:p>
                  </a:txBody>
                  <a:tcPr marT="91425" marB="91425" marR="91425" marL="91425"/>
                </a:tc>
              </a:tr>
              <a:tr h="381000">
                <a:tc>
                  <a:txBody>
                    <a:bodyPr/>
                    <a:lstStyle/>
                    <a:p>
                      <a:pPr indent="0" lvl="0" marL="0" rtl="0" algn="l">
                        <a:spcBef>
                          <a:spcPts val="0"/>
                        </a:spcBef>
                        <a:spcAft>
                          <a:spcPts val="0"/>
                        </a:spcAft>
                        <a:buNone/>
                      </a:pPr>
                      <a:r>
                        <a:rPr lang="id"/>
                        <a:t>boolean isCancelled()</a:t>
                      </a:r>
                      <a:endParaRPr/>
                    </a:p>
                  </a:txBody>
                  <a:tcPr marT="91425" marB="91425" marR="91425" marL="91425"/>
                </a:tc>
                <a:tc>
                  <a:txBody>
                    <a:bodyPr/>
                    <a:lstStyle/>
                    <a:p>
                      <a:pPr indent="0" lvl="0" marL="0" rtl="0" algn="l">
                        <a:spcBef>
                          <a:spcPts val="0"/>
                        </a:spcBef>
                        <a:spcAft>
                          <a:spcPts val="0"/>
                        </a:spcAft>
                        <a:buNone/>
                      </a:pPr>
                      <a:r>
                        <a:rPr lang="id"/>
                        <a:t>Mengecek apakah future dibatalkan</a:t>
                      </a:r>
                      <a:endParaRPr/>
                    </a:p>
                  </a:txBody>
                  <a:tcPr marT="91425" marB="91425" marR="91425" marL="91425"/>
                </a:tc>
              </a:tr>
              <a:tr h="381000">
                <a:tc>
                  <a:txBody>
                    <a:bodyPr/>
                    <a:lstStyle/>
                    <a:p>
                      <a:pPr indent="0" lvl="0" marL="0" rtl="0" algn="l">
                        <a:spcBef>
                          <a:spcPts val="0"/>
                        </a:spcBef>
                        <a:spcAft>
                          <a:spcPts val="0"/>
                        </a:spcAft>
                        <a:buNone/>
                      </a:pPr>
                      <a:r>
                        <a:rPr lang="id"/>
                        <a:t>boolean isDone()</a:t>
                      </a:r>
                      <a:endParaRPr/>
                    </a:p>
                  </a:txBody>
                  <a:tcPr marT="91425" marB="91425" marR="91425" marL="91425"/>
                </a:tc>
                <a:tc>
                  <a:txBody>
                    <a:bodyPr/>
                    <a:lstStyle/>
                    <a:p>
                      <a:pPr indent="0" lvl="0" marL="0" rtl="0" algn="l">
                        <a:spcBef>
                          <a:spcPts val="0"/>
                        </a:spcBef>
                        <a:spcAft>
                          <a:spcPts val="0"/>
                        </a:spcAft>
                        <a:buNone/>
                      </a:pPr>
                      <a:r>
                        <a:rPr lang="id"/>
                        <a:t>Mengecek apakah future telah selesai</a:t>
                      </a:r>
                      <a:endParaRPr/>
                    </a:p>
                  </a:txBody>
                  <a:tcPr marT="91425" marB="91425" marR="91425" marL="91425"/>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Future</a:t>
            </a:r>
            <a:endParaRPr/>
          </a:p>
        </p:txBody>
      </p:sp>
      <p:pic>
        <p:nvPicPr>
          <p:cNvPr id="715" name="Google Shape;715;p118"/>
          <p:cNvPicPr preferRelativeResize="0"/>
          <p:nvPr/>
        </p:nvPicPr>
        <p:blipFill>
          <a:blip r:embed="rId3">
            <a:alphaModFix/>
          </a:blip>
          <a:stretch>
            <a:fillRect/>
          </a:stretch>
        </p:blipFill>
        <p:spPr>
          <a:xfrm>
            <a:off x="152400" y="2006250"/>
            <a:ext cx="7401619" cy="2984849"/>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Membatalkan Future</a:t>
            </a:r>
            <a:endParaRPr/>
          </a:p>
        </p:txBody>
      </p:sp>
      <p:pic>
        <p:nvPicPr>
          <p:cNvPr id="721" name="Google Shape;721;p119"/>
          <p:cNvPicPr preferRelativeResize="0"/>
          <p:nvPr/>
        </p:nvPicPr>
        <p:blipFill>
          <a:blip r:embed="rId3">
            <a:alphaModFix/>
          </a:blip>
          <a:stretch>
            <a:fillRect/>
          </a:stretch>
        </p:blipFill>
        <p:spPr>
          <a:xfrm>
            <a:off x="152400" y="2006250"/>
            <a:ext cx="8839204" cy="2530578"/>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Invoke All</a:t>
            </a:r>
            <a:endParaRPr/>
          </a:p>
        </p:txBody>
      </p:sp>
      <p:sp>
        <p:nvSpPr>
          <p:cNvPr id="727" name="Google Shape;727;p1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ExecutorService memiliki method bernama  invokeAll(Collection&lt;Callable&lt;T&gt;&gt;) untuk mengeksekusi banyak Callable secara sekaligus</a:t>
            </a:r>
            <a:endParaRPr/>
          </a:p>
          <a:p>
            <a:pPr indent="-311150" lvl="0" marL="457200" rtl="0" algn="l">
              <a:spcBef>
                <a:spcPts val="0"/>
              </a:spcBef>
              <a:spcAft>
                <a:spcPts val="0"/>
              </a:spcAft>
              <a:buSzPts val="1300"/>
              <a:buChar char="●"/>
            </a:pPr>
            <a:r>
              <a:rPr lang="id"/>
              <a:t>Ini cocok ketika ada kasus kita ingin menjalankan proses asynchronous secara parallel sebanyak jumlah thread di threadpool</a:t>
            </a:r>
            <a:endParaRPr/>
          </a:p>
          <a:p>
            <a:pPr indent="-311150" lvl="0" marL="457200" rtl="0" algn="l">
              <a:spcBef>
                <a:spcPts val="0"/>
              </a:spcBef>
              <a:spcAft>
                <a:spcPts val="0"/>
              </a:spcAft>
              <a:buSzPts val="1300"/>
              <a:buChar char="●"/>
            </a:pPr>
            <a:r>
              <a:rPr lang="id"/>
              <a:t>Hal ini bisa mempercepat proses dibanding kita eksekusi satu persatu</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Invoke All</a:t>
            </a:r>
            <a:endParaRPr/>
          </a:p>
        </p:txBody>
      </p:sp>
      <p:pic>
        <p:nvPicPr>
          <p:cNvPr id="733" name="Google Shape;733;p121"/>
          <p:cNvPicPr preferRelativeResize="0"/>
          <p:nvPr/>
        </p:nvPicPr>
        <p:blipFill>
          <a:blip r:embed="rId3">
            <a:alphaModFix/>
          </a:blip>
          <a:stretch>
            <a:fillRect/>
          </a:stretch>
        </p:blipFill>
        <p:spPr>
          <a:xfrm>
            <a:off x="152400" y="2006250"/>
            <a:ext cx="8839200" cy="2792942"/>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Invoke Any</a:t>
            </a:r>
            <a:endParaRPr/>
          </a:p>
        </p:txBody>
      </p:sp>
      <p:sp>
        <p:nvSpPr>
          <p:cNvPr id="739" name="Google Shape;739;p1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ingin mengeksekusi beberapa proses secara asynchronous, namun ingin mendapatkan hasil yang paling cepat</a:t>
            </a:r>
            <a:endParaRPr/>
          </a:p>
          <a:p>
            <a:pPr indent="-311150" lvl="0" marL="457200" rtl="0" algn="l">
              <a:spcBef>
                <a:spcPts val="0"/>
              </a:spcBef>
              <a:spcAft>
                <a:spcPts val="0"/>
              </a:spcAft>
              <a:buSzPts val="1300"/>
              <a:buChar char="●"/>
            </a:pPr>
            <a:r>
              <a:rPr lang="id"/>
              <a:t>Hal ini bisa dilakukan dengan menggunakan method invokeAny(Collection&lt;Callable&lt;T&gt;&gt;)</a:t>
            </a:r>
            <a:endParaRPr/>
          </a:p>
          <a:p>
            <a:pPr indent="-311150" lvl="0" marL="457200" rtl="0" algn="l">
              <a:spcBef>
                <a:spcPts val="0"/>
              </a:spcBef>
              <a:spcAft>
                <a:spcPts val="0"/>
              </a:spcAft>
              <a:buSzPts val="1300"/>
              <a:buChar char="●"/>
            </a:pPr>
            <a:r>
              <a:rPr lang="id"/>
              <a:t>invokeAny() akan mengembalikan result data dari Callable yang paling cepat mengembalikan result</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Invoke Any</a:t>
            </a:r>
            <a:endParaRPr/>
          </a:p>
        </p:txBody>
      </p:sp>
      <p:pic>
        <p:nvPicPr>
          <p:cNvPr id="745" name="Google Shape;745;p123"/>
          <p:cNvPicPr preferRelativeResize="0"/>
          <p:nvPr/>
        </p:nvPicPr>
        <p:blipFill>
          <a:blip r:embed="rId3">
            <a:alphaModFix/>
          </a:blip>
          <a:stretch>
            <a:fillRect/>
          </a:stretch>
        </p:blipFill>
        <p:spPr>
          <a:xfrm>
            <a:off x="152400" y="2006250"/>
            <a:ext cx="8839202" cy="216925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Completable </a:t>
            </a:r>
            <a:r>
              <a:rPr lang="id"/>
              <a:t>Future</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CompletableFuture</a:t>
            </a:r>
            <a:endParaRPr/>
          </a:p>
        </p:txBody>
      </p:sp>
      <p:sp>
        <p:nvSpPr>
          <p:cNvPr id="756" name="Google Shape;756;p1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Java 8, terdapat sebuah class baru bernama CompletableFuture, ini merupakan implementasi Future yang bisa kita set datanya secara manual</a:t>
            </a:r>
            <a:endParaRPr/>
          </a:p>
          <a:p>
            <a:pPr indent="-311150" lvl="0" marL="457200" rtl="0" algn="l">
              <a:spcBef>
                <a:spcPts val="0"/>
              </a:spcBef>
              <a:spcAft>
                <a:spcPts val="0"/>
              </a:spcAft>
              <a:buSzPts val="1300"/>
              <a:buChar char="●"/>
            </a:pPr>
            <a:r>
              <a:rPr lang="id"/>
              <a:t>CompletableFuture sangat cocok ketika kita misal perlu membuat future secara manual, sehingga kita tidak memerlukan Callable</a:t>
            </a:r>
            <a:endParaRPr/>
          </a:p>
          <a:p>
            <a:pPr indent="-311150" lvl="0" marL="457200" rtl="0" algn="l">
              <a:spcBef>
                <a:spcPts val="0"/>
              </a:spcBef>
              <a:spcAft>
                <a:spcPts val="0"/>
              </a:spcAft>
              <a:buSzPts val="1300"/>
              <a:buChar char="●"/>
            </a:pPr>
            <a:r>
              <a:rPr lang="id"/>
              <a:t>Untuk memberi value terhadap CompletableFuture secara manual, kita bisa menggunakan method complete(value) atau completeExceptionally(error) untuk error</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https://docs.oracle.com/en/java/javase/16/docs/api/java.base/java/util/concurrent/CompletableFuture.html</a:t>
            </a:r>
            <a:r>
              <a:rPr lang="id"/>
              <a:t>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CompletableFuture (1)</a:t>
            </a:r>
            <a:endParaRPr/>
          </a:p>
        </p:txBody>
      </p:sp>
      <p:pic>
        <p:nvPicPr>
          <p:cNvPr id="762" name="Google Shape;762;p126"/>
          <p:cNvPicPr preferRelativeResize="0"/>
          <p:nvPr/>
        </p:nvPicPr>
        <p:blipFill>
          <a:blip r:embed="rId3">
            <a:alphaModFix/>
          </a:blip>
          <a:stretch>
            <a:fillRect/>
          </a:stretch>
        </p:blipFill>
        <p:spPr>
          <a:xfrm>
            <a:off x="152400" y="2006250"/>
            <a:ext cx="6982905" cy="2984849"/>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CompletableFuture (2)</a:t>
            </a:r>
            <a:endParaRPr/>
          </a:p>
        </p:txBody>
      </p:sp>
      <p:pic>
        <p:nvPicPr>
          <p:cNvPr id="768" name="Google Shape;768;p127"/>
          <p:cNvPicPr preferRelativeResize="0"/>
          <p:nvPr/>
        </p:nvPicPr>
        <p:blipFill>
          <a:blip r:embed="rId3">
            <a:alphaModFix/>
          </a:blip>
          <a:stretch>
            <a:fillRect/>
          </a:stretch>
        </p:blipFill>
        <p:spPr>
          <a:xfrm>
            <a:off x="152400" y="2006250"/>
            <a:ext cx="7016183" cy="2984851"/>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CompletableFuture (3)</a:t>
            </a:r>
            <a:endParaRPr/>
          </a:p>
        </p:txBody>
      </p:sp>
      <p:pic>
        <p:nvPicPr>
          <p:cNvPr id="774" name="Google Shape;774;p128"/>
          <p:cNvPicPr preferRelativeResize="0"/>
          <p:nvPr/>
        </p:nvPicPr>
        <p:blipFill>
          <a:blip r:embed="rId3">
            <a:alphaModFix/>
          </a:blip>
          <a:stretch>
            <a:fillRect/>
          </a:stretch>
        </p:blipFill>
        <p:spPr>
          <a:xfrm>
            <a:off x="152400" y="2006250"/>
            <a:ext cx="7829824" cy="29848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CompletionStage</a:t>
            </a:r>
            <a:endParaRPr/>
          </a:p>
        </p:txBody>
      </p:sp>
      <p:sp>
        <p:nvSpPr>
          <p:cNvPr id="780" name="Google Shape;780;p1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CompletableFuture merupakan turunan dari interface CompletionStage</a:t>
            </a:r>
            <a:endParaRPr/>
          </a:p>
          <a:p>
            <a:pPr indent="-311150" lvl="0" marL="457200" rtl="0" algn="l">
              <a:spcBef>
                <a:spcPts val="0"/>
              </a:spcBef>
              <a:spcAft>
                <a:spcPts val="0"/>
              </a:spcAft>
              <a:buSzPts val="1300"/>
              <a:buChar char="●"/>
            </a:pPr>
            <a:r>
              <a:rPr lang="id"/>
              <a:t>CompletionStage merupakan fitur dimana kita bisa menambahkan asynchronous computation, tanpa harus menunggu dulu data dari Future nya ada</a:t>
            </a:r>
            <a:endParaRPr/>
          </a:p>
          <a:p>
            <a:pPr indent="-311150" lvl="0" marL="457200" rtl="0" algn="l">
              <a:spcBef>
                <a:spcPts val="0"/>
              </a:spcBef>
              <a:spcAft>
                <a:spcPts val="0"/>
              </a:spcAft>
              <a:buSzPts val="1300"/>
              <a:buChar char="●"/>
            </a:pPr>
            <a:r>
              <a:rPr lang="id"/>
              <a:t>CompletionStage sangat mirip dengan operation di Java Stream, hanya saja tidak sekomplit di Java Stream</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https://docs.oracle.com/en/java/javase/16/docs/api/java.base/java/util/concurrent/CompletionStage.html</a:t>
            </a:r>
            <a:r>
              <a:rPr lang="id"/>
              <a:t> </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CompletionStage</a:t>
            </a:r>
            <a:endParaRPr/>
          </a:p>
        </p:txBody>
      </p:sp>
      <p:pic>
        <p:nvPicPr>
          <p:cNvPr id="786" name="Google Shape;786;p130"/>
          <p:cNvPicPr preferRelativeResize="0"/>
          <p:nvPr/>
        </p:nvPicPr>
        <p:blipFill>
          <a:blip r:embed="rId3">
            <a:alphaModFix/>
          </a:blip>
          <a:stretch>
            <a:fillRect/>
          </a:stretch>
        </p:blipFill>
        <p:spPr>
          <a:xfrm>
            <a:off x="152400" y="2006250"/>
            <a:ext cx="8839201" cy="292384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3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Completion Service</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CompletionService</a:t>
            </a:r>
            <a:endParaRPr/>
          </a:p>
        </p:txBody>
      </p:sp>
      <p:sp>
        <p:nvSpPr>
          <p:cNvPr id="797" name="Google Shape;797;p1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CompletionService merupakan sebuah interface yang digunakan untuk memisahkan antara bagian yang mengeksekusi asynchronous task dan yang menerima hasil dari task yang sudah selesai</a:t>
            </a:r>
            <a:endParaRPr/>
          </a:p>
          <a:p>
            <a:pPr indent="-311150" lvl="0" marL="457200" rtl="0" algn="l">
              <a:spcBef>
                <a:spcPts val="0"/>
              </a:spcBef>
              <a:spcAft>
                <a:spcPts val="0"/>
              </a:spcAft>
              <a:buSzPts val="1300"/>
              <a:buChar char="●"/>
            </a:pPr>
            <a:r>
              <a:rPr lang="id"/>
              <a:t>Kadang ada kebutuhan misal kita butuh menjalankan sesuatu secara parallel, lalu ada satu thread yang melakukan eksekusi task dan satu thread menunggu hasil nya</a:t>
            </a:r>
            <a:endParaRPr/>
          </a:p>
          <a:p>
            <a:pPr indent="-311150" lvl="0" marL="457200" rtl="0" algn="l">
              <a:spcBef>
                <a:spcPts val="0"/>
              </a:spcBef>
              <a:spcAft>
                <a:spcPts val="0"/>
              </a:spcAft>
              <a:buSzPts val="1300"/>
              <a:buChar char="●"/>
            </a:pPr>
            <a:r>
              <a:rPr lang="id"/>
              <a:t>Kita bisa menggunakan CompletionService untuk melakukan itu</a:t>
            </a:r>
            <a:endParaRPr/>
          </a:p>
          <a:p>
            <a:pPr indent="-311150" lvl="0" marL="457200" rtl="0" algn="l">
              <a:spcBef>
                <a:spcPts val="0"/>
              </a:spcBef>
              <a:spcAft>
                <a:spcPts val="0"/>
              </a:spcAft>
              <a:buSzPts val="1300"/>
              <a:buChar char="●"/>
            </a:pPr>
            <a:r>
              <a:rPr lang="id"/>
              <a:t>Implementasi interface CompletionService adalah class ExecutorCompletionService</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https://docs.oracle.com/en/java/javase/16/docs/api/java.base/java/util/concurrent/CompletionService.html</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https://docs.oracle.com/en/java/javase/16/docs/api/java.base/java/util/concurrent/ExecutorCompletionService.html</a:t>
            </a:r>
            <a:r>
              <a:rPr lang="id"/>
              <a:t>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Completion Service</a:t>
            </a:r>
            <a:endParaRPr/>
          </a:p>
        </p:txBody>
      </p:sp>
      <p:pic>
        <p:nvPicPr>
          <p:cNvPr id="803" name="Google Shape;803;p133"/>
          <p:cNvPicPr preferRelativeResize="0"/>
          <p:nvPr/>
        </p:nvPicPr>
        <p:blipFill>
          <a:blip r:embed="rId3">
            <a:alphaModFix/>
          </a:blip>
          <a:stretch>
            <a:fillRect/>
          </a:stretch>
        </p:blipFill>
        <p:spPr>
          <a:xfrm>
            <a:off x="152400" y="2006250"/>
            <a:ext cx="8839204" cy="2576662"/>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CompletionService</a:t>
            </a:r>
            <a:endParaRPr/>
          </a:p>
        </p:txBody>
      </p:sp>
      <p:pic>
        <p:nvPicPr>
          <p:cNvPr id="809" name="Google Shape;809;p134"/>
          <p:cNvPicPr preferRelativeResize="0"/>
          <p:nvPr/>
        </p:nvPicPr>
        <p:blipFill>
          <a:blip r:embed="rId3">
            <a:alphaModFix/>
          </a:blip>
          <a:stretch>
            <a:fillRect/>
          </a:stretch>
        </p:blipFill>
        <p:spPr>
          <a:xfrm>
            <a:off x="152400" y="2006250"/>
            <a:ext cx="8839200" cy="1140542"/>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Mengirim Task ke CompletionService</a:t>
            </a:r>
            <a:endParaRPr/>
          </a:p>
        </p:txBody>
      </p:sp>
      <p:pic>
        <p:nvPicPr>
          <p:cNvPr id="815" name="Google Shape;815;p135"/>
          <p:cNvPicPr preferRelativeResize="0"/>
          <p:nvPr/>
        </p:nvPicPr>
        <p:blipFill>
          <a:blip r:embed="rId3">
            <a:alphaModFix/>
          </a:blip>
          <a:stretch>
            <a:fillRect/>
          </a:stretch>
        </p:blipFill>
        <p:spPr>
          <a:xfrm>
            <a:off x="152400" y="2006250"/>
            <a:ext cx="6095113" cy="2984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Mengambil Task di CompletionService</a:t>
            </a:r>
            <a:endParaRPr/>
          </a:p>
        </p:txBody>
      </p:sp>
      <p:pic>
        <p:nvPicPr>
          <p:cNvPr id="821" name="Google Shape;821;p136"/>
          <p:cNvPicPr preferRelativeResize="0"/>
          <p:nvPr/>
        </p:nvPicPr>
        <p:blipFill>
          <a:blip r:embed="rId3">
            <a:alphaModFix/>
          </a:blip>
          <a:stretch>
            <a:fillRect/>
          </a:stretch>
        </p:blipFill>
        <p:spPr>
          <a:xfrm>
            <a:off x="152400" y="2006250"/>
            <a:ext cx="6241822" cy="29848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3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Scheduled Executor Service</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Scheduled Executor Service</a:t>
            </a:r>
            <a:endParaRPr/>
          </a:p>
        </p:txBody>
      </p:sp>
      <p:sp>
        <p:nvSpPr>
          <p:cNvPr id="832" name="Google Shape;832;p1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ExecutorService memiliki sub child interface bernama ScheduledExecutorService</a:t>
            </a:r>
            <a:endParaRPr/>
          </a:p>
          <a:p>
            <a:pPr indent="-311150" lvl="0" marL="457200" rtl="0" algn="l">
              <a:spcBef>
                <a:spcPts val="0"/>
              </a:spcBef>
              <a:spcAft>
                <a:spcPts val="0"/>
              </a:spcAft>
              <a:buSzPts val="1300"/>
              <a:buChar char="●"/>
            </a:pPr>
            <a:r>
              <a:rPr lang="id"/>
              <a:t>Fitur tambahan di ScheduledExecutorService adalah, kita bisa melakukan asynchronous task yang terjadwal</a:t>
            </a:r>
            <a:endParaRPr/>
          </a:p>
          <a:p>
            <a:pPr indent="-311150" lvl="0" marL="457200" rtl="0" algn="l">
              <a:spcBef>
                <a:spcPts val="0"/>
              </a:spcBef>
              <a:spcAft>
                <a:spcPts val="0"/>
              </a:spcAft>
              <a:buSzPts val="1300"/>
              <a:buChar char="●"/>
            </a:pPr>
            <a:r>
              <a:rPr lang="id"/>
              <a:t>Hal ini sangat cocok untuk kasus delayed job (pekerjaan yang butuh ditangguhkan pengerjaannya) dan periodic job</a:t>
            </a:r>
            <a:endParaRPr/>
          </a:p>
          <a:p>
            <a:pPr indent="-311150" lvl="0" marL="457200" rtl="0" algn="l">
              <a:spcBef>
                <a:spcPts val="0"/>
              </a:spcBef>
              <a:spcAft>
                <a:spcPts val="0"/>
              </a:spcAft>
              <a:buSzPts val="1300"/>
              <a:buChar char="●"/>
            </a:pPr>
            <a:r>
              <a:rPr lang="id"/>
              <a:t>ScheduledExecutorService merupakan fitur yang bisa menggantikan low level penggunaan Timer</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https://docs.oracle.com/en/java/javase/16/docs/api/java.base/java/util/concurrent/ScheduledExecutorService.html</a:t>
            </a:r>
            <a:r>
              <a:rPr lang="id"/>
              <a:t>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ScheduledFuture</a:t>
            </a:r>
            <a:endParaRPr/>
          </a:p>
        </p:txBody>
      </p:sp>
      <p:sp>
        <p:nvSpPr>
          <p:cNvPr id="838" name="Google Shape;838;p1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Hampir semua method di ScheduledExecutorService mengembalikan data ScheduledFuture</a:t>
            </a:r>
            <a:endParaRPr/>
          </a:p>
          <a:p>
            <a:pPr indent="-311150" lvl="0" marL="457200" rtl="0" algn="l">
              <a:spcBef>
                <a:spcPts val="0"/>
              </a:spcBef>
              <a:spcAft>
                <a:spcPts val="0"/>
              </a:spcAft>
              <a:buSzPts val="1300"/>
              <a:buChar char="●"/>
            </a:pPr>
            <a:r>
              <a:rPr lang="id"/>
              <a:t>ScheduledFuture sebenarnya mirip dengan Future, yang membedakan, dia adalah turunan dari interface Delayed, yang memiliki method untuk mendapatkan informasi waktu delay</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https://docs.oracle.com/en/java/javase/16/docs/api/java.base/java/util/concurrent/ScheduledFuture.html</a:t>
            </a:r>
            <a:r>
              <a:rPr lang="id"/>
              <a:t>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ScheduledExecutorService</a:t>
            </a:r>
            <a:endParaRPr/>
          </a:p>
        </p:txBody>
      </p:sp>
      <p:sp>
        <p:nvSpPr>
          <p:cNvPr id="844" name="Google Shape;844;p1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ScheduledExecutorService kita bisa menggunakan implementasi class </a:t>
            </a:r>
            <a:r>
              <a:rPr lang="id"/>
              <a:t>ScheduledThreadPoolExecutor</a:t>
            </a:r>
            <a:endParaRPr/>
          </a:p>
          <a:p>
            <a:pPr indent="-311150" lvl="0" marL="457200" rtl="0" algn="l">
              <a:spcBef>
                <a:spcPts val="0"/>
              </a:spcBef>
              <a:spcAft>
                <a:spcPts val="0"/>
              </a:spcAft>
              <a:buSzPts val="1300"/>
              <a:buChar char="●"/>
            </a:pPr>
            <a:r>
              <a:rPr lang="id"/>
              <a:t>Atau jika ingin mudah, kita bisa gunakan class Executors, terdapat method newSingleThreadScheduledExecutor() dan newScheduledThreadPool(poolSize) untuk membuat ScheduledExecutorService</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https://docs.oracle.com/en/java/javase/16/docs/api/java.base/java/util/concurrent/ScheduledThreadPoolExecutor.html</a:t>
            </a:r>
            <a:r>
              <a:rPr lang="id"/>
              <a:t> </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Delayed Job</a:t>
            </a:r>
            <a:endParaRPr/>
          </a:p>
        </p:txBody>
      </p:sp>
      <p:pic>
        <p:nvPicPr>
          <p:cNvPr id="850" name="Google Shape;850;p141"/>
          <p:cNvPicPr preferRelativeResize="0"/>
          <p:nvPr/>
        </p:nvPicPr>
        <p:blipFill>
          <a:blip r:embed="rId3">
            <a:alphaModFix/>
          </a:blip>
          <a:stretch>
            <a:fillRect/>
          </a:stretch>
        </p:blipFill>
        <p:spPr>
          <a:xfrm>
            <a:off x="152400" y="2006250"/>
            <a:ext cx="8839200" cy="2007155"/>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Periodic Job</a:t>
            </a:r>
            <a:endParaRPr/>
          </a:p>
        </p:txBody>
      </p:sp>
      <p:pic>
        <p:nvPicPr>
          <p:cNvPr id="856" name="Google Shape;856;p142"/>
          <p:cNvPicPr preferRelativeResize="0"/>
          <p:nvPr/>
        </p:nvPicPr>
        <p:blipFill>
          <a:blip r:embed="rId3">
            <a:alphaModFix/>
          </a:blip>
          <a:stretch>
            <a:fillRect/>
          </a:stretch>
        </p:blipFill>
        <p:spPr>
          <a:xfrm>
            <a:off x="152400" y="2006250"/>
            <a:ext cx="8839200" cy="19431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4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Atomic</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Atomic Package</a:t>
            </a:r>
            <a:endParaRPr/>
          </a:p>
        </p:txBody>
      </p:sp>
      <p:sp>
        <p:nvSpPr>
          <p:cNvPr id="867" name="Google Shape;867;p1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menawarkan sebuah package atomic yang berisikan class-class yang mendukung lock-free dan thread-safe programming pada single variable</a:t>
            </a:r>
            <a:endParaRPr/>
          </a:p>
          <a:p>
            <a:pPr indent="-311150" lvl="0" marL="457200" rtl="0" algn="l">
              <a:spcBef>
                <a:spcPts val="0"/>
              </a:spcBef>
              <a:spcAft>
                <a:spcPts val="0"/>
              </a:spcAft>
              <a:buSzPts val="1300"/>
              <a:buChar char="●"/>
            </a:pPr>
            <a:r>
              <a:rPr lang="id"/>
              <a:t>Setiap object Atomic class akan mengelola data yang diakses dan di update menggunakan method yang telah disediakan</a:t>
            </a:r>
            <a:endParaRPr/>
          </a:p>
          <a:p>
            <a:pPr indent="-311150" lvl="0" marL="457200" rtl="0" algn="l">
              <a:spcBef>
                <a:spcPts val="0"/>
              </a:spcBef>
              <a:spcAft>
                <a:spcPts val="0"/>
              </a:spcAft>
              <a:buSzPts val="1300"/>
              <a:buChar char="●"/>
            </a:pPr>
            <a:r>
              <a:rPr lang="id"/>
              <a:t>Atomic class melakukan implementasi Compare-and-Swap untuk mendukung synchronization</a:t>
            </a:r>
            <a:endParaRPr/>
          </a:p>
          <a:p>
            <a:pPr indent="-311150" lvl="0" marL="457200" rtl="0" algn="l">
              <a:spcBef>
                <a:spcPts val="0"/>
              </a:spcBef>
              <a:spcAft>
                <a:spcPts val="0"/>
              </a:spcAft>
              <a:buSzPts val="1300"/>
              <a:buChar char="●"/>
            </a:pPr>
            <a:r>
              <a:rPr lang="id"/>
              <a:t>Dengan menggunakan Atomic, kita tidak perlu lagi menggunakan synchronized secara manual</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https://docs.oracle.com/en/java/javase/16/docs/api/java.base/java/util/concurrent/atomic/package-summary.html</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https://en.wikipedia.org/wiki/Compare-and-swap</a:t>
            </a:r>
            <a:r>
              <a:rPr lang="id"/>
              <a:t>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CounterAtomic</a:t>
            </a:r>
            <a:endParaRPr/>
          </a:p>
        </p:txBody>
      </p:sp>
      <p:pic>
        <p:nvPicPr>
          <p:cNvPr id="873" name="Google Shape;873;p145"/>
          <p:cNvPicPr preferRelativeResize="0"/>
          <p:nvPr/>
        </p:nvPicPr>
        <p:blipFill>
          <a:blip r:embed="rId3">
            <a:alphaModFix/>
          </a:blip>
          <a:stretch>
            <a:fillRect/>
          </a:stretch>
        </p:blipFill>
        <p:spPr>
          <a:xfrm>
            <a:off x="152400" y="2006250"/>
            <a:ext cx="6769214" cy="29848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Counter Atomic</a:t>
            </a:r>
            <a:endParaRPr/>
          </a:p>
        </p:txBody>
      </p:sp>
      <p:pic>
        <p:nvPicPr>
          <p:cNvPr id="879" name="Google Shape;879;p146"/>
          <p:cNvPicPr preferRelativeResize="0"/>
          <p:nvPr/>
        </p:nvPicPr>
        <p:blipFill>
          <a:blip r:embed="rId3">
            <a:alphaModFix/>
          </a:blip>
          <a:stretch>
            <a:fillRect/>
          </a:stretch>
        </p:blipFill>
        <p:spPr>
          <a:xfrm>
            <a:off x="152400" y="2006250"/>
            <a:ext cx="7422403" cy="298485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Lock</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Locks Package</a:t>
            </a:r>
            <a:endParaRPr/>
          </a:p>
        </p:txBody>
      </p:sp>
      <p:sp>
        <p:nvSpPr>
          <p:cNvPr id="890" name="Google Shape;890;p1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menyediakan high level concurrency package untuk melakukan locking atau waiting for conditions</a:t>
            </a:r>
            <a:endParaRPr/>
          </a:p>
          <a:p>
            <a:pPr indent="-311150" lvl="0" marL="457200" rtl="0" algn="l">
              <a:spcBef>
                <a:spcPts val="0"/>
              </a:spcBef>
              <a:spcAft>
                <a:spcPts val="0"/>
              </a:spcAft>
              <a:buSzPts val="1300"/>
              <a:buChar char="●"/>
            </a:pPr>
            <a:r>
              <a:rPr lang="id"/>
              <a:t>Ini adalah </a:t>
            </a:r>
            <a:r>
              <a:rPr lang="id"/>
              <a:t>alternatif</a:t>
            </a:r>
            <a:r>
              <a:rPr lang="id"/>
              <a:t> dari low level synchronized dan manual wait dan notify</a:t>
            </a:r>
            <a:endParaRPr/>
          </a:p>
          <a:p>
            <a:pPr indent="-311150" lvl="0" marL="457200" rtl="0" algn="l">
              <a:spcBef>
                <a:spcPts val="0"/>
              </a:spcBef>
              <a:spcAft>
                <a:spcPts val="0"/>
              </a:spcAft>
              <a:buSzPts val="1300"/>
              <a:buChar char="●"/>
            </a:pPr>
            <a:r>
              <a:rPr lang="id"/>
              <a:t>Untuk saat ini, sangat disarankan menggunakan package locks dibandingkan menggunakan low level synchronization sebelumnya yang sudah kita bahas</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https://docs.oracle.com/en/java/javase/16/docs/api/java.base/java/util/concurrent/locks/package-summary.html</a:t>
            </a:r>
            <a:r>
              <a:rPr lang="id"/>
              <a:t> </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Lock Interface</a:t>
            </a:r>
            <a:endParaRPr/>
          </a:p>
        </p:txBody>
      </p:sp>
      <p:sp>
        <p:nvSpPr>
          <p:cNvPr id="896" name="Google Shape;896;p1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Lock interface merupakan </a:t>
            </a:r>
            <a:r>
              <a:rPr lang="id"/>
              <a:t>alternatif</a:t>
            </a:r>
            <a:r>
              <a:rPr lang="id"/>
              <a:t> implementasi dari synchronized method dan synchronized statement</a:t>
            </a:r>
            <a:endParaRPr/>
          </a:p>
          <a:p>
            <a:pPr indent="-311150" lvl="0" marL="457200" rtl="0" algn="l">
              <a:spcBef>
                <a:spcPts val="0"/>
              </a:spcBef>
              <a:spcAft>
                <a:spcPts val="0"/>
              </a:spcAft>
              <a:buSzPts val="1300"/>
              <a:buChar char="●"/>
            </a:pPr>
            <a:r>
              <a:rPr lang="id"/>
              <a:t>Untuk melakukan lock, kita bisa gunakan method lock() dan setelah selesai, kita bisa menggunakan method unlock() untuk melepaskan lock</a:t>
            </a:r>
            <a:endParaRPr/>
          </a:p>
          <a:p>
            <a:pPr indent="-311150" lvl="0" marL="457200" rtl="0" algn="l">
              <a:spcBef>
                <a:spcPts val="0"/>
              </a:spcBef>
              <a:spcAft>
                <a:spcPts val="0"/>
              </a:spcAft>
              <a:buSzPts val="1300"/>
              <a:buChar char="●"/>
            </a:pPr>
            <a:r>
              <a:rPr lang="id"/>
              <a:t>Implementasi dari interface Lock adalah class ReentrantLock</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https://docs.oracle.com/en/java/javase/16/docs/api/java.base/java/util/concurrent/locks/Lock.html</a:t>
            </a:r>
            <a:r>
              <a:rPr lang="id"/>
              <a:t>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Counter dengan Lock</a:t>
            </a:r>
            <a:endParaRPr/>
          </a:p>
        </p:txBody>
      </p:sp>
      <p:pic>
        <p:nvPicPr>
          <p:cNvPr id="902" name="Google Shape;902;p150"/>
          <p:cNvPicPr preferRelativeResize="0"/>
          <p:nvPr/>
        </p:nvPicPr>
        <p:blipFill>
          <a:blip r:embed="rId3">
            <a:alphaModFix/>
          </a:blip>
          <a:stretch>
            <a:fillRect/>
          </a:stretch>
        </p:blipFill>
        <p:spPr>
          <a:xfrm>
            <a:off x="152400" y="2006250"/>
            <a:ext cx="7255778" cy="298485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ReadWriteLock</a:t>
            </a:r>
            <a:endParaRPr/>
          </a:p>
        </p:txBody>
      </p:sp>
      <p:sp>
        <p:nvSpPr>
          <p:cNvPr id="908" name="Google Shape;908;p1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kondisi dimana kita ingin membedakan lock antara operasi update dan operasi get</a:t>
            </a:r>
            <a:endParaRPr/>
          </a:p>
          <a:p>
            <a:pPr indent="-311150" lvl="0" marL="457200" rtl="0" algn="l">
              <a:spcBef>
                <a:spcPts val="0"/>
              </a:spcBef>
              <a:spcAft>
                <a:spcPts val="0"/>
              </a:spcAft>
              <a:buSzPts val="1300"/>
              <a:buChar char="●"/>
            </a:pPr>
            <a:r>
              <a:rPr lang="id"/>
              <a:t>Untuk kasus seperti ini, kita bisa membuat dua buah variable Lock</a:t>
            </a:r>
            <a:endParaRPr/>
          </a:p>
          <a:p>
            <a:pPr indent="-311150" lvl="0" marL="457200" rtl="0" algn="l">
              <a:spcBef>
                <a:spcPts val="0"/>
              </a:spcBef>
              <a:spcAft>
                <a:spcPts val="0"/>
              </a:spcAft>
              <a:buSzPts val="1300"/>
              <a:buChar char="●"/>
            </a:pPr>
            <a:r>
              <a:rPr lang="id"/>
              <a:t>Namun, di Java disediakan cara yang lebih mudah, yaitu menggunakan interface ReadWriteLock</a:t>
            </a:r>
            <a:endParaRPr/>
          </a:p>
          <a:p>
            <a:pPr indent="-311150" lvl="0" marL="457200" rtl="0" algn="l">
              <a:spcBef>
                <a:spcPts val="0"/>
              </a:spcBef>
              <a:spcAft>
                <a:spcPts val="0"/>
              </a:spcAft>
              <a:buSzPts val="1300"/>
              <a:buChar char="●"/>
            </a:pPr>
            <a:r>
              <a:rPr lang="id"/>
              <a:t>ReadWriteLock merupakan lock yang mendukung dua jenis operasi, read dan write</a:t>
            </a:r>
            <a:endParaRPr/>
          </a:p>
          <a:p>
            <a:pPr indent="-311150" lvl="0" marL="457200" rtl="0" algn="l">
              <a:spcBef>
                <a:spcPts val="0"/>
              </a:spcBef>
              <a:spcAft>
                <a:spcPts val="0"/>
              </a:spcAft>
              <a:buSzPts val="1300"/>
              <a:buChar char="●"/>
            </a:pPr>
            <a:r>
              <a:rPr lang="id"/>
              <a:t>Implementasi dari interface ReadWriteLock adalah class ReentrantReadWriteLock</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https://docs.oracle.com/en/java/javase/16/docs/api/java.base/java/util/concurrent/locks/ReadWriteLock.html</a:t>
            </a:r>
            <a:r>
              <a:rPr lang="id"/>
              <a:t> </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Counter dengan ReadWriteLock</a:t>
            </a:r>
            <a:endParaRPr/>
          </a:p>
        </p:txBody>
      </p:sp>
      <p:pic>
        <p:nvPicPr>
          <p:cNvPr id="914" name="Google Shape;914;p152"/>
          <p:cNvPicPr preferRelativeResize="0"/>
          <p:nvPr/>
        </p:nvPicPr>
        <p:blipFill>
          <a:blip r:embed="rId3">
            <a:alphaModFix/>
          </a:blip>
          <a:stretch>
            <a:fillRect/>
          </a:stretch>
        </p:blipFill>
        <p:spPr>
          <a:xfrm>
            <a:off x="152400" y="2006250"/>
            <a:ext cx="2705277" cy="2984849"/>
          </a:xfrm>
          <a:prstGeom prst="rect">
            <a:avLst/>
          </a:prstGeom>
          <a:noFill/>
          <a:ln>
            <a:noFill/>
          </a:ln>
        </p:spPr>
      </p:pic>
      <p:pic>
        <p:nvPicPr>
          <p:cNvPr id="915" name="Google Shape;915;p152"/>
          <p:cNvPicPr preferRelativeResize="0"/>
          <p:nvPr/>
        </p:nvPicPr>
        <p:blipFill>
          <a:blip r:embed="rId4">
            <a:alphaModFix/>
          </a:blip>
          <a:stretch>
            <a:fillRect/>
          </a:stretch>
        </p:blipFill>
        <p:spPr>
          <a:xfrm>
            <a:off x="3010077" y="2006250"/>
            <a:ext cx="3833623" cy="29848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Condition Interface</a:t>
            </a:r>
            <a:endParaRPr/>
          </a:p>
        </p:txBody>
      </p:sp>
      <p:sp>
        <p:nvSpPr>
          <p:cNvPr id="921" name="Google Shape;921;p1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Condition merupakan alternatif lain dari monitor method (wait, notify dan notifyAll)</a:t>
            </a:r>
            <a:endParaRPr/>
          </a:p>
          <a:p>
            <a:pPr indent="-311150" lvl="0" marL="457200" rtl="0" algn="l">
              <a:spcBef>
                <a:spcPts val="0"/>
              </a:spcBef>
              <a:spcAft>
                <a:spcPts val="0"/>
              </a:spcAft>
              <a:buSzPts val="1300"/>
              <a:buChar char="●"/>
            </a:pPr>
            <a:r>
              <a:rPr lang="id"/>
              <a:t>Pada Java modern saat ini, sangat disarankan menggunakan Condition dibanding monitor method</a:t>
            </a:r>
            <a:endParaRPr/>
          </a:p>
          <a:p>
            <a:pPr indent="-311150" lvl="0" marL="457200" rtl="0" algn="l">
              <a:spcBef>
                <a:spcPts val="0"/>
              </a:spcBef>
              <a:spcAft>
                <a:spcPts val="0"/>
              </a:spcAft>
              <a:buSzPts val="1300"/>
              <a:buChar char="●"/>
            </a:pPr>
            <a:r>
              <a:rPr lang="id"/>
              <a:t>Condition memiliki method wait() untuk menunggu, signal() untuk mentrigger satu thread, dan signalAll() untuk mentrigger semua thread yang menunggu</a:t>
            </a:r>
            <a:endParaRPr/>
          </a:p>
          <a:p>
            <a:pPr indent="-311150" lvl="0" marL="457200" rtl="0" algn="l">
              <a:spcBef>
                <a:spcPts val="0"/>
              </a:spcBef>
              <a:spcAft>
                <a:spcPts val="0"/>
              </a:spcAft>
              <a:buSzPts val="1300"/>
              <a:buChar char="●"/>
            </a:pPr>
            <a:r>
              <a:rPr lang="id"/>
              <a:t>Cara pembuatan Condition, kita bisa menggunakan method newCondition() milik Lock</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https://docs.oracle.com/en/java/javase/16/docs/api/java.base/java/util/concurrent/locks/Condition.html</a:t>
            </a:r>
            <a:r>
              <a:rPr lang="id"/>
              <a:t> </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Condition</a:t>
            </a:r>
            <a:endParaRPr/>
          </a:p>
        </p:txBody>
      </p:sp>
      <p:pic>
        <p:nvPicPr>
          <p:cNvPr id="927" name="Google Shape;927;p154"/>
          <p:cNvPicPr preferRelativeResize="0"/>
          <p:nvPr/>
        </p:nvPicPr>
        <p:blipFill>
          <a:blip r:embed="rId3">
            <a:alphaModFix/>
          </a:blip>
          <a:stretch>
            <a:fillRect/>
          </a:stretch>
        </p:blipFill>
        <p:spPr>
          <a:xfrm>
            <a:off x="152400" y="2006250"/>
            <a:ext cx="3713295" cy="2984849"/>
          </a:xfrm>
          <a:prstGeom prst="rect">
            <a:avLst/>
          </a:prstGeom>
          <a:noFill/>
          <a:ln>
            <a:noFill/>
          </a:ln>
        </p:spPr>
      </p:pic>
      <p:pic>
        <p:nvPicPr>
          <p:cNvPr id="928" name="Google Shape;928;p154"/>
          <p:cNvPicPr preferRelativeResize="0"/>
          <p:nvPr/>
        </p:nvPicPr>
        <p:blipFill>
          <a:blip r:embed="rId4">
            <a:alphaModFix/>
          </a:blip>
          <a:stretch>
            <a:fillRect/>
          </a:stretch>
        </p:blipFill>
        <p:spPr>
          <a:xfrm>
            <a:off x="4018095" y="2006250"/>
            <a:ext cx="4477276" cy="2984851"/>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5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Synchronizer</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Synchronizer</a:t>
            </a:r>
            <a:endParaRPr/>
          </a:p>
        </p:txBody>
      </p:sp>
      <p:sp>
        <p:nvSpPr>
          <p:cNvPr id="939" name="Google Shape;939;p1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package concurrent, terdapat banyak sekali class untuk melakukan synchronizer, ini sebenarnya improvement dari locks, namun digunakan pada kasus-kasus tertentu</a:t>
            </a:r>
            <a:endParaRPr/>
          </a:p>
          <a:p>
            <a:pPr indent="-311150" lvl="0" marL="457200" rtl="0" algn="l">
              <a:spcBef>
                <a:spcPts val="0"/>
              </a:spcBef>
              <a:spcAft>
                <a:spcPts val="0"/>
              </a:spcAft>
              <a:buSzPts val="1300"/>
              <a:buChar char="●"/>
            </a:pPr>
            <a:r>
              <a:rPr lang="id"/>
              <a:t>Isi dari class-class Synchronizer banyak menggunakan locks, namun kita tidak perlu melakukannya secara manual, karena sudah diatur secara otomatis oleh class-class nya sendiri</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Jenis Synchronizer</a:t>
            </a:r>
            <a:endParaRPr/>
          </a:p>
        </p:txBody>
      </p:sp>
      <p:sp>
        <p:nvSpPr>
          <p:cNvPr id="945" name="Google Shape;945;p1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Ada banyak sekali class-class yang bisa kita gunakan untuk synchronizer, seperti </a:t>
            </a:r>
            <a:endParaRPr/>
          </a:p>
          <a:p>
            <a:pPr indent="-311150" lvl="0" marL="457200" rtl="0" algn="l">
              <a:spcBef>
                <a:spcPts val="1600"/>
              </a:spcBef>
              <a:spcAft>
                <a:spcPts val="0"/>
              </a:spcAft>
              <a:buSzPts val="1300"/>
              <a:buChar char="●"/>
            </a:pPr>
            <a:r>
              <a:rPr lang="id"/>
              <a:t>Semaphore</a:t>
            </a:r>
            <a:endParaRPr/>
          </a:p>
          <a:p>
            <a:pPr indent="-311150" lvl="0" marL="457200" rtl="0" algn="l">
              <a:spcBef>
                <a:spcPts val="0"/>
              </a:spcBef>
              <a:spcAft>
                <a:spcPts val="0"/>
              </a:spcAft>
              <a:buSzPts val="1300"/>
              <a:buChar char="●"/>
            </a:pPr>
            <a:r>
              <a:rPr lang="id"/>
              <a:t>CountDownLatch</a:t>
            </a:r>
            <a:endParaRPr/>
          </a:p>
          <a:p>
            <a:pPr indent="-311150" lvl="0" marL="457200" rtl="0" algn="l">
              <a:spcBef>
                <a:spcPts val="0"/>
              </a:spcBef>
              <a:spcAft>
                <a:spcPts val="0"/>
              </a:spcAft>
              <a:buSzPts val="1300"/>
              <a:buChar char="●"/>
            </a:pPr>
            <a:r>
              <a:rPr lang="id"/>
              <a:t>CyclicBarrier</a:t>
            </a:r>
            <a:endParaRPr/>
          </a:p>
          <a:p>
            <a:pPr indent="-311150" lvl="0" marL="457200" rtl="0" algn="l">
              <a:spcBef>
                <a:spcPts val="0"/>
              </a:spcBef>
              <a:spcAft>
                <a:spcPts val="0"/>
              </a:spcAft>
              <a:buSzPts val="1300"/>
              <a:buChar char="●"/>
            </a:pPr>
            <a:r>
              <a:rPr lang="id"/>
              <a:t>Phaser, dan </a:t>
            </a:r>
            <a:endParaRPr/>
          </a:p>
          <a:p>
            <a:pPr indent="-311150" lvl="0" marL="457200" rtl="0" algn="l">
              <a:spcBef>
                <a:spcPts val="0"/>
              </a:spcBef>
              <a:spcAft>
                <a:spcPts val="0"/>
              </a:spcAft>
              <a:buSzPts val="1300"/>
              <a:buChar char="●"/>
            </a:pPr>
            <a:r>
              <a:rPr lang="id"/>
              <a:t>Exchanger</a:t>
            </a:r>
            <a:endParaRPr/>
          </a:p>
          <a:p>
            <a:pPr indent="0" lvl="0" marL="0" rtl="0" algn="l">
              <a:spcBef>
                <a:spcPts val="1600"/>
              </a:spcBef>
              <a:spcAft>
                <a:spcPts val="1600"/>
              </a:spcAft>
              <a:buNone/>
            </a:pPr>
            <a:r>
              <a:rPr lang="id"/>
              <a:t>Semua kita akan coba bahas satu persatu</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Semaphore</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Semaphore</a:t>
            </a:r>
            <a:endParaRPr/>
          </a:p>
        </p:txBody>
      </p:sp>
      <p:sp>
        <p:nvSpPr>
          <p:cNvPr id="956" name="Google Shape;956;p1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Semaphore merupakan class yang digunakan untuk manage data counter</a:t>
            </a:r>
            <a:endParaRPr/>
          </a:p>
          <a:p>
            <a:pPr indent="-311150" lvl="0" marL="457200" rtl="0" algn="l">
              <a:spcBef>
                <a:spcPts val="0"/>
              </a:spcBef>
              <a:spcAft>
                <a:spcPts val="0"/>
              </a:spcAft>
              <a:buSzPts val="1300"/>
              <a:buChar char="●"/>
            </a:pPr>
            <a:r>
              <a:rPr lang="id"/>
              <a:t>Nilai counter bisa naik, namun ada batas maksimal nya, jika batas maksimal nya sudah tercapai, semua thread yang akan mencoba menaikkan harus menunggu, sampai ada thread lain yang menurunkan nilai counter</a:t>
            </a:r>
            <a:endParaRPr/>
          </a:p>
          <a:p>
            <a:pPr indent="-311150" lvl="0" marL="457200" rtl="0" algn="l">
              <a:spcBef>
                <a:spcPts val="0"/>
              </a:spcBef>
              <a:spcAft>
                <a:spcPts val="0"/>
              </a:spcAft>
              <a:buSzPts val="1300"/>
              <a:buChar char="●"/>
            </a:pPr>
            <a:r>
              <a:rPr lang="id"/>
              <a:t>Semaphore cocok sekali misal untuk menjaga agar thread berjalan pada maksimal total counter yang sudah kita tentukan</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https://docs.oracle.com/en/java/javase/16/docs/api/java.base/java/util/concurrent/Semaphore.html</a:t>
            </a:r>
            <a:r>
              <a:rPr lang="id"/>
              <a:t> </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Semaphore</a:t>
            </a:r>
            <a:endParaRPr/>
          </a:p>
        </p:txBody>
      </p:sp>
      <p:pic>
        <p:nvPicPr>
          <p:cNvPr id="962" name="Google Shape;962;p160"/>
          <p:cNvPicPr preferRelativeResize="0"/>
          <p:nvPr/>
        </p:nvPicPr>
        <p:blipFill>
          <a:blip r:embed="rId3">
            <a:alphaModFix/>
          </a:blip>
          <a:stretch>
            <a:fillRect/>
          </a:stretch>
        </p:blipFill>
        <p:spPr>
          <a:xfrm>
            <a:off x="152400" y="2006250"/>
            <a:ext cx="6994621" cy="2984851"/>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CountDownLatch</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CountDownLatch</a:t>
            </a:r>
            <a:endParaRPr/>
          </a:p>
        </p:txBody>
      </p:sp>
      <p:sp>
        <p:nvSpPr>
          <p:cNvPr id="973" name="Google Shape;973;p16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CountDownLatch merupakan synchronizer yang digunakan untuk menunggu beberapa proses selesai, cara kerjanya mirip dengan Semaphore, yang membedakan adalah pada CountDownLatch, counter diawal sudah ditentukan</a:t>
            </a:r>
            <a:endParaRPr/>
          </a:p>
          <a:p>
            <a:pPr indent="-311150" lvl="0" marL="457200" rtl="0" algn="l">
              <a:spcBef>
                <a:spcPts val="0"/>
              </a:spcBef>
              <a:spcAft>
                <a:spcPts val="0"/>
              </a:spcAft>
              <a:buSzPts val="1300"/>
              <a:buChar char="●"/>
            </a:pPr>
            <a:r>
              <a:rPr lang="id"/>
              <a:t>Setelah proses selesai, kita akan menurunkan counter</a:t>
            </a:r>
            <a:endParaRPr/>
          </a:p>
          <a:p>
            <a:pPr indent="-311150" lvl="0" marL="457200" rtl="0" algn="l">
              <a:spcBef>
                <a:spcPts val="0"/>
              </a:spcBef>
              <a:spcAft>
                <a:spcPts val="0"/>
              </a:spcAft>
              <a:buSzPts val="1300"/>
              <a:buChar char="●"/>
            </a:pPr>
            <a:r>
              <a:rPr lang="id"/>
              <a:t>Jika counter sudah bernilai 0, maka yang melakukan wait bisa lanjut berjalan</a:t>
            </a:r>
            <a:endParaRPr/>
          </a:p>
          <a:p>
            <a:pPr indent="-311150" lvl="0" marL="457200" rtl="0" algn="l">
              <a:spcBef>
                <a:spcPts val="0"/>
              </a:spcBef>
              <a:spcAft>
                <a:spcPts val="0"/>
              </a:spcAft>
              <a:buSzPts val="1300"/>
              <a:buChar char="●"/>
            </a:pPr>
            <a:r>
              <a:rPr lang="id"/>
              <a:t>CountDownLatch cocok jika kita misal ingin menunggu beberapa proses yang berjalan secara asynchronous sampai semua proses selesai</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https://docs.oracle.com/en/java/javase/16/docs/api/java.base/java/util/concurrent/CountDownLatch.html</a:t>
            </a:r>
            <a:r>
              <a:rPr lang="id"/>
              <a:t> </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CountDownLatch (1)</a:t>
            </a:r>
            <a:endParaRPr/>
          </a:p>
        </p:txBody>
      </p:sp>
      <p:pic>
        <p:nvPicPr>
          <p:cNvPr id="979" name="Google Shape;979;p163"/>
          <p:cNvPicPr preferRelativeResize="0"/>
          <p:nvPr/>
        </p:nvPicPr>
        <p:blipFill>
          <a:blip r:embed="rId3">
            <a:alphaModFix/>
          </a:blip>
          <a:stretch>
            <a:fillRect/>
          </a:stretch>
        </p:blipFill>
        <p:spPr>
          <a:xfrm>
            <a:off x="152400" y="2006250"/>
            <a:ext cx="7692073" cy="2984849"/>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CountDownLatch (2)</a:t>
            </a:r>
            <a:endParaRPr/>
          </a:p>
        </p:txBody>
      </p:sp>
      <p:pic>
        <p:nvPicPr>
          <p:cNvPr id="985" name="Google Shape;985;p164"/>
          <p:cNvPicPr preferRelativeResize="0"/>
          <p:nvPr/>
        </p:nvPicPr>
        <p:blipFill>
          <a:blip r:embed="rId3">
            <a:alphaModFix/>
          </a:blip>
          <a:stretch>
            <a:fillRect/>
          </a:stretch>
        </p:blipFill>
        <p:spPr>
          <a:xfrm>
            <a:off x="152400" y="2006250"/>
            <a:ext cx="8839200" cy="293712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CyclicBarrier</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CyclicBarrier</a:t>
            </a:r>
            <a:endParaRPr/>
          </a:p>
        </p:txBody>
      </p:sp>
      <p:sp>
        <p:nvSpPr>
          <p:cNvPr id="996" name="Google Shape;996;p1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CyclicBarrier merupakan fitur yang bisa kita gunakan untuk saling menunggu, sampai jumlah thread yang menunggu terpenuhi</a:t>
            </a:r>
            <a:endParaRPr/>
          </a:p>
          <a:p>
            <a:pPr indent="-311150" lvl="0" marL="457200" rtl="0" algn="l">
              <a:spcBef>
                <a:spcPts val="0"/>
              </a:spcBef>
              <a:spcAft>
                <a:spcPts val="0"/>
              </a:spcAft>
              <a:buSzPts val="1300"/>
              <a:buChar char="●"/>
            </a:pPr>
            <a:r>
              <a:rPr lang="id"/>
              <a:t>Diawal kita akan tentukan berapa jumlah thread yang menunggu, jika sudah terpenuhi, maka secara otomatis proses menunggu akan selesai</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https://docs.oracle.com/en/java/javase/16/docs/api/java.base/java/util/concurrent/CyclicBarrier.html</a:t>
            </a:r>
            <a:r>
              <a:rPr lang="id"/>
              <a:t> </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CyclicBarrier</a:t>
            </a:r>
            <a:endParaRPr/>
          </a:p>
        </p:txBody>
      </p:sp>
      <p:pic>
        <p:nvPicPr>
          <p:cNvPr id="1002" name="Google Shape;1002;p167"/>
          <p:cNvPicPr preferRelativeResize="0"/>
          <p:nvPr/>
        </p:nvPicPr>
        <p:blipFill>
          <a:blip r:embed="rId3">
            <a:alphaModFix/>
          </a:blip>
          <a:stretch>
            <a:fillRect/>
          </a:stretch>
        </p:blipFill>
        <p:spPr>
          <a:xfrm>
            <a:off x="152400" y="2006250"/>
            <a:ext cx="7496044" cy="298485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6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Phaser</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Phaser</a:t>
            </a:r>
            <a:endParaRPr/>
          </a:p>
        </p:txBody>
      </p:sp>
      <p:sp>
        <p:nvSpPr>
          <p:cNvPr id="1013" name="Google Shape;1013;p16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Phaser merupakan fitur synchronizer yang mirip dengan CyclicBarrier dan CountDownLatch, namun lebih flexible</a:t>
            </a:r>
            <a:endParaRPr/>
          </a:p>
          <a:p>
            <a:pPr indent="-311150" lvl="0" marL="457200" rtl="0" algn="l">
              <a:spcBef>
                <a:spcPts val="0"/>
              </a:spcBef>
              <a:spcAft>
                <a:spcPts val="0"/>
              </a:spcAft>
              <a:buSzPts val="1300"/>
              <a:buChar char="●"/>
            </a:pPr>
            <a:r>
              <a:rPr lang="id"/>
              <a:t>Sebelumnya, untuk jumlah counter atau thread nya sudah ditentukan di awal, namun pada Phaser, bisa berubah dengan menggunakan method register() atau bulkRegister(int), dan untuk menurunkan bisa menggunakan method arrive...(), atau bisa menggunakan await...(int) untuk menunggu sampai jumlah yang register tertentu</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https://docs.oracle.com/en/java/javase/16/docs/api/java.base/java/util/concurrent/Phaser.html</a:t>
            </a:r>
            <a:r>
              <a:rPr lang="id"/>
              <a:t> </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Phaser Sebagai CountDownLatch (1)</a:t>
            </a:r>
            <a:endParaRPr/>
          </a:p>
        </p:txBody>
      </p:sp>
      <p:pic>
        <p:nvPicPr>
          <p:cNvPr id="1019" name="Google Shape;1019;p170"/>
          <p:cNvPicPr preferRelativeResize="0"/>
          <p:nvPr/>
        </p:nvPicPr>
        <p:blipFill>
          <a:blip r:embed="rId3">
            <a:alphaModFix/>
          </a:blip>
          <a:stretch>
            <a:fillRect/>
          </a:stretch>
        </p:blipFill>
        <p:spPr>
          <a:xfrm>
            <a:off x="152400" y="2006250"/>
            <a:ext cx="6138336" cy="298485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Phaser Sebagai CountDownLatch (2)</a:t>
            </a:r>
            <a:endParaRPr/>
          </a:p>
        </p:txBody>
      </p:sp>
      <p:pic>
        <p:nvPicPr>
          <p:cNvPr id="1025" name="Google Shape;1025;p171"/>
          <p:cNvPicPr preferRelativeResize="0"/>
          <p:nvPr/>
        </p:nvPicPr>
        <p:blipFill>
          <a:blip r:embed="rId3">
            <a:alphaModFix/>
          </a:blip>
          <a:stretch>
            <a:fillRect/>
          </a:stretch>
        </p:blipFill>
        <p:spPr>
          <a:xfrm>
            <a:off x="152400" y="2006250"/>
            <a:ext cx="8839200" cy="1782822"/>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Phaser Sebagai CyclicBarrier</a:t>
            </a:r>
            <a:endParaRPr/>
          </a:p>
        </p:txBody>
      </p:sp>
      <p:pic>
        <p:nvPicPr>
          <p:cNvPr id="1031" name="Google Shape;1031;p172"/>
          <p:cNvPicPr preferRelativeResize="0"/>
          <p:nvPr/>
        </p:nvPicPr>
        <p:blipFill>
          <a:blip r:embed="rId3">
            <a:alphaModFix/>
          </a:blip>
          <a:stretch>
            <a:fillRect/>
          </a:stretch>
        </p:blipFill>
        <p:spPr>
          <a:xfrm>
            <a:off x="152400" y="2006250"/>
            <a:ext cx="8113259" cy="2984849"/>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7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Exchanger</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Exchanger</a:t>
            </a:r>
            <a:endParaRPr/>
          </a:p>
        </p:txBody>
      </p:sp>
      <p:sp>
        <p:nvSpPr>
          <p:cNvPr id="1042" name="Google Shape;1042;p17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Exchanger merupakan fitur synchronizer untuk melakukan pertukaran data antar thread</a:t>
            </a:r>
            <a:endParaRPr/>
          </a:p>
          <a:p>
            <a:pPr indent="-311150" lvl="0" marL="457200" rtl="0" algn="l">
              <a:spcBef>
                <a:spcPts val="0"/>
              </a:spcBef>
              <a:spcAft>
                <a:spcPts val="0"/>
              </a:spcAft>
              <a:buSzPts val="1300"/>
              <a:buChar char="●"/>
            </a:pPr>
            <a:r>
              <a:rPr lang="id"/>
              <a:t>Jika data belum tersedia, maka thread yang melakukan pertukaran akan menunggu sampai ada thread lain yang melakukan pertukaran data</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https://docs.oracle.com/en/java/javase/16/docs/api/java.base/java/util/concurrent/Exchanger.html</a:t>
            </a:r>
            <a:r>
              <a:rPr lang="id"/>
              <a:t> </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Exchanger</a:t>
            </a:r>
            <a:endParaRPr/>
          </a:p>
        </p:txBody>
      </p:sp>
      <p:pic>
        <p:nvPicPr>
          <p:cNvPr id="1048" name="Google Shape;1048;p175"/>
          <p:cNvPicPr preferRelativeResize="0"/>
          <p:nvPr/>
        </p:nvPicPr>
        <p:blipFill>
          <a:blip r:embed="rId3">
            <a:alphaModFix/>
          </a:blip>
          <a:stretch>
            <a:fillRect/>
          </a:stretch>
        </p:blipFill>
        <p:spPr>
          <a:xfrm>
            <a:off x="152400" y="2006250"/>
            <a:ext cx="4511528" cy="2984850"/>
          </a:xfrm>
          <a:prstGeom prst="rect">
            <a:avLst/>
          </a:prstGeom>
          <a:noFill/>
          <a:ln>
            <a:noFill/>
          </a:ln>
        </p:spPr>
      </p:pic>
      <p:pic>
        <p:nvPicPr>
          <p:cNvPr id="1049" name="Google Shape;1049;p175"/>
          <p:cNvPicPr preferRelativeResize="0"/>
          <p:nvPr/>
        </p:nvPicPr>
        <p:blipFill>
          <a:blip r:embed="rId4">
            <a:alphaModFix/>
          </a:blip>
          <a:stretch>
            <a:fillRect/>
          </a:stretch>
        </p:blipFill>
        <p:spPr>
          <a:xfrm>
            <a:off x="4816328" y="2006250"/>
            <a:ext cx="4175271" cy="2047745"/>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Concurrent Collection</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Concurrent Collection</a:t>
            </a:r>
            <a:endParaRPr/>
          </a:p>
        </p:txBody>
      </p:sp>
      <p:sp>
        <p:nvSpPr>
          <p:cNvPr id="1060" name="Google Shape;1060;p1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menyediakan Collection yang banyak digunakan untuk proses concurrent programming</a:t>
            </a:r>
            <a:endParaRPr/>
          </a:p>
          <a:p>
            <a:pPr indent="-311150" lvl="0" marL="457200" rtl="0" algn="l">
              <a:spcBef>
                <a:spcPts val="0"/>
              </a:spcBef>
              <a:spcAft>
                <a:spcPts val="0"/>
              </a:spcAft>
              <a:buSzPts val="1300"/>
              <a:buChar char="●"/>
            </a:pPr>
            <a:r>
              <a:rPr lang="id"/>
              <a:t>Tidak seperti kebanyakan Collection di package java.util, Collection yang terdapat di java.util.concurrent memang dikhususkan untuk concurrent programming, sehingga thread safe</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Jenis Concurrent Collection</a:t>
            </a:r>
            <a:endParaRPr/>
          </a:p>
        </p:txBody>
      </p:sp>
      <p:sp>
        <p:nvSpPr>
          <p:cNvPr id="1066" name="Google Shape;1066;p1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Secara garis besar, concurrent collection di Java terbagi menjadi dua interface</a:t>
            </a:r>
            <a:endParaRPr/>
          </a:p>
          <a:p>
            <a:pPr indent="-311150" lvl="0" marL="457200" rtl="0" algn="l">
              <a:spcBef>
                <a:spcPts val="1600"/>
              </a:spcBef>
              <a:spcAft>
                <a:spcPts val="0"/>
              </a:spcAft>
              <a:buSzPts val="1300"/>
              <a:buChar char="●"/>
            </a:pPr>
            <a:r>
              <a:rPr lang="id"/>
              <a:t>BlockingQueue, merupakan turunan dari Queue, dan dikhususkan untuk tipe collection FIFO (first in first out), seperti yang sebelumnya sudah kita bahas sekilas di ThreadPool Queue</a:t>
            </a:r>
            <a:endParaRPr/>
          </a:p>
          <a:p>
            <a:pPr indent="-311150" lvl="0" marL="457200" rtl="0" algn="l">
              <a:spcBef>
                <a:spcPts val="0"/>
              </a:spcBef>
              <a:spcAft>
                <a:spcPts val="0"/>
              </a:spcAft>
              <a:buSzPts val="1300"/>
              <a:buChar char="●"/>
            </a:pPr>
            <a:r>
              <a:rPr lang="id"/>
              <a:t>ConcurrentMap, merupakan turunan dari Map, dan dikhususkan untuk Map yang thread safe dibanding implementasi Map di Java Collection</a:t>
            </a:r>
            <a:endParaRPr/>
          </a:p>
          <a:p>
            <a:pPr indent="0" lvl="0" marL="0" rtl="0" algn="l">
              <a:spcBef>
                <a:spcPts val="1600"/>
              </a:spcBef>
              <a:spcAft>
                <a:spcPts val="1600"/>
              </a:spcAft>
              <a:buNone/>
            </a:pPr>
            <a:r>
              <a:rPr lang="id"/>
              <a:t>Kita akan coba bahas satu-satu di chapter selanjutnya</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Blocking Queue</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Blocking Queue</a:t>
            </a:r>
            <a:endParaRPr/>
          </a:p>
        </p:txBody>
      </p:sp>
      <p:sp>
        <p:nvSpPr>
          <p:cNvPr id="1077" name="Google Shape;1077;p1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BlockingQueue merupakan turunan dari Queue, dari namanya kita tahu bahwa ini adalah collection dengan tipe antrian, yang membedakan sifat dari BlockingQueue adalah dia aman diakses oleh beberapa thread, baik itu yang memasukkan data, atau mengambil data</a:t>
            </a:r>
            <a:endParaRPr/>
          </a:p>
          <a:p>
            <a:pPr indent="-311150" lvl="0" marL="457200" rtl="0" algn="l">
              <a:spcBef>
                <a:spcPts val="0"/>
              </a:spcBef>
              <a:spcAft>
                <a:spcPts val="0"/>
              </a:spcAft>
              <a:buSzPts val="1300"/>
              <a:buChar char="●"/>
            </a:pPr>
            <a:r>
              <a:rPr lang="id"/>
              <a:t>BlockingQueue mendukung method wait ketika mengambil data, dan juga wait ketika menyimpan data</a:t>
            </a:r>
            <a:endParaRPr/>
          </a:p>
          <a:p>
            <a:pPr indent="-311150" lvl="0" marL="457200" rtl="0" algn="l">
              <a:spcBef>
                <a:spcPts val="0"/>
              </a:spcBef>
              <a:spcAft>
                <a:spcPts val="0"/>
              </a:spcAft>
              <a:buSzPts val="1300"/>
              <a:buChar char="●"/>
            </a:pPr>
            <a:r>
              <a:rPr lang="id"/>
              <a:t>Jika queue kosong, thread yang mengambil data akan diminta untuk menunggu sampai data ada</a:t>
            </a:r>
            <a:endParaRPr/>
          </a:p>
          <a:p>
            <a:pPr indent="-311150" lvl="0" marL="457200" rtl="0" algn="l">
              <a:spcBef>
                <a:spcPts val="0"/>
              </a:spcBef>
              <a:spcAft>
                <a:spcPts val="0"/>
              </a:spcAft>
              <a:buSzPts val="1300"/>
              <a:buChar char="●"/>
            </a:pPr>
            <a:r>
              <a:rPr lang="id"/>
              <a:t>Dan jika queue penuh, thread yang mengambil data akan diminta untuk menunggu sampai ada tempat kosong</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https://docs.oracle.com/en/java/javase/16/docs/api/java.base/java/util/concurrent/BlockingQueue.html</a:t>
            </a:r>
            <a:r>
              <a:rPr lang="id"/>
              <a:t> </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di BlockingQueue</a:t>
            </a:r>
            <a:endParaRPr/>
          </a:p>
        </p:txBody>
      </p:sp>
      <p:pic>
        <p:nvPicPr>
          <p:cNvPr id="1083" name="Google Shape;1083;p181"/>
          <p:cNvPicPr preferRelativeResize="0"/>
          <p:nvPr/>
        </p:nvPicPr>
        <p:blipFill>
          <a:blip r:embed="rId3">
            <a:alphaModFix/>
          </a:blip>
          <a:stretch>
            <a:fillRect/>
          </a:stretch>
        </p:blipFill>
        <p:spPr>
          <a:xfrm>
            <a:off x="152400" y="2006250"/>
            <a:ext cx="8839204" cy="1799779"/>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Class Diagram Blocking Queue</a:t>
            </a:r>
            <a:endParaRPr/>
          </a:p>
        </p:txBody>
      </p:sp>
      <p:pic>
        <p:nvPicPr>
          <p:cNvPr id="1089" name="Google Shape;1089;p182"/>
          <p:cNvPicPr preferRelativeResize="0"/>
          <p:nvPr/>
        </p:nvPicPr>
        <p:blipFill>
          <a:blip r:embed="rId3">
            <a:alphaModFix/>
          </a:blip>
          <a:stretch>
            <a:fillRect/>
          </a:stretch>
        </p:blipFill>
        <p:spPr>
          <a:xfrm>
            <a:off x="152400" y="2006250"/>
            <a:ext cx="8839204" cy="196810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Implementasi Blocking Queue</a:t>
            </a:r>
            <a:endParaRPr/>
          </a:p>
        </p:txBody>
      </p:sp>
      <p:sp>
        <p:nvSpPr>
          <p:cNvPr id="1095" name="Google Shape;1095;p1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ArrayBlockingQueue, implementasi BlockingQueue dengan ukuran fix</a:t>
            </a:r>
            <a:endParaRPr/>
          </a:p>
          <a:p>
            <a:pPr indent="-311150" lvl="0" marL="457200" rtl="0" algn="l">
              <a:spcBef>
                <a:spcPts val="0"/>
              </a:spcBef>
              <a:spcAft>
                <a:spcPts val="0"/>
              </a:spcAft>
              <a:buSzPts val="1300"/>
              <a:buChar char="●"/>
            </a:pPr>
            <a:r>
              <a:rPr lang="id"/>
              <a:t>LinkedBlockingQueue, implementasi BlockingQueue dengan ukuran bisa berkembang</a:t>
            </a:r>
            <a:endParaRPr/>
          </a:p>
          <a:p>
            <a:pPr indent="-311150" lvl="0" marL="457200" rtl="0" algn="l">
              <a:spcBef>
                <a:spcPts val="0"/>
              </a:spcBef>
              <a:spcAft>
                <a:spcPts val="0"/>
              </a:spcAft>
              <a:buSzPts val="1300"/>
              <a:buChar char="●"/>
            </a:pPr>
            <a:r>
              <a:rPr lang="id"/>
              <a:t>PriorityBlockingQueue, implementasi BlockingQueue dengan otomatis berurut berdasarkan prioritas</a:t>
            </a:r>
            <a:endParaRPr/>
          </a:p>
          <a:p>
            <a:pPr indent="-311150" lvl="0" marL="457200" rtl="0" algn="l">
              <a:spcBef>
                <a:spcPts val="0"/>
              </a:spcBef>
              <a:spcAft>
                <a:spcPts val="0"/>
              </a:spcAft>
              <a:buSzPts val="1300"/>
              <a:buChar char="●"/>
            </a:pPr>
            <a:r>
              <a:rPr lang="id"/>
              <a:t>DelayQueue, implementasi BlockingQueue untuk tipe data Delayed, dimana data tidak bisa diambil sebelum waktu delay yang telah ditentukan</a:t>
            </a:r>
            <a:endParaRPr/>
          </a:p>
          <a:p>
            <a:pPr indent="-311150" lvl="0" marL="457200" rtl="0" algn="l">
              <a:spcBef>
                <a:spcPts val="0"/>
              </a:spcBef>
              <a:spcAft>
                <a:spcPts val="0"/>
              </a:spcAft>
              <a:buSzPts val="1300"/>
              <a:buChar char="●"/>
            </a:pPr>
            <a:r>
              <a:rPr lang="id"/>
              <a:t>SynchronousQueue, implementasi BlockingQueue dimana thread yang menambah data harus menunggu sampai ada thread yang mengambil data, begitu juga kebalikannya</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ArrayBlockingQueue (1)</a:t>
            </a:r>
            <a:endParaRPr/>
          </a:p>
        </p:txBody>
      </p:sp>
      <p:pic>
        <p:nvPicPr>
          <p:cNvPr id="1101" name="Google Shape;1101;p184"/>
          <p:cNvPicPr preferRelativeResize="0"/>
          <p:nvPr/>
        </p:nvPicPr>
        <p:blipFill>
          <a:blip r:embed="rId3">
            <a:alphaModFix/>
          </a:blip>
          <a:stretch>
            <a:fillRect/>
          </a:stretch>
        </p:blipFill>
        <p:spPr>
          <a:xfrm>
            <a:off x="152400" y="2006250"/>
            <a:ext cx="6848220" cy="298485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ArrayBlockingQueue (2)</a:t>
            </a:r>
            <a:endParaRPr/>
          </a:p>
        </p:txBody>
      </p:sp>
      <p:pic>
        <p:nvPicPr>
          <p:cNvPr id="1107" name="Google Shape;1107;p185"/>
          <p:cNvPicPr preferRelativeResize="0"/>
          <p:nvPr/>
        </p:nvPicPr>
        <p:blipFill>
          <a:blip r:embed="rId3">
            <a:alphaModFix/>
          </a:blip>
          <a:stretch>
            <a:fillRect/>
          </a:stretch>
        </p:blipFill>
        <p:spPr>
          <a:xfrm>
            <a:off x="152400" y="2006250"/>
            <a:ext cx="8839202" cy="2946401"/>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LinkedBlockingQueue</a:t>
            </a:r>
            <a:endParaRPr/>
          </a:p>
        </p:txBody>
      </p:sp>
      <p:pic>
        <p:nvPicPr>
          <p:cNvPr id="1113" name="Google Shape;1113;p186"/>
          <p:cNvPicPr preferRelativeResize="0"/>
          <p:nvPr/>
        </p:nvPicPr>
        <p:blipFill>
          <a:blip r:embed="rId3">
            <a:alphaModFix/>
          </a:blip>
          <a:stretch>
            <a:fillRect/>
          </a:stretch>
        </p:blipFill>
        <p:spPr>
          <a:xfrm>
            <a:off x="152400" y="2006250"/>
            <a:ext cx="8076654" cy="298485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PriorityBlockingQueue</a:t>
            </a:r>
            <a:endParaRPr/>
          </a:p>
        </p:txBody>
      </p:sp>
      <p:pic>
        <p:nvPicPr>
          <p:cNvPr id="1119" name="Google Shape;1119;p187"/>
          <p:cNvPicPr preferRelativeResize="0"/>
          <p:nvPr/>
        </p:nvPicPr>
        <p:blipFill>
          <a:blip r:embed="rId3">
            <a:alphaModFix/>
          </a:blip>
          <a:stretch>
            <a:fillRect/>
          </a:stretch>
        </p:blipFill>
        <p:spPr>
          <a:xfrm>
            <a:off x="152400" y="2006250"/>
            <a:ext cx="8839200" cy="2468088"/>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DelayQueue</a:t>
            </a:r>
            <a:endParaRPr/>
          </a:p>
        </p:txBody>
      </p:sp>
      <p:pic>
        <p:nvPicPr>
          <p:cNvPr id="1125" name="Google Shape;1125;p188"/>
          <p:cNvPicPr preferRelativeResize="0"/>
          <p:nvPr/>
        </p:nvPicPr>
        <p:blipFill>
          <a:blip r:embed="rId3">
            <a:alphaModFix/>
          </a:blip>
          <a:stretch>
            <a:fillRect/>
          </a:stretch>
        </p:blipFill>
        <p:spPr>
          <a:xfrm>
            <a:off x="152400" y="2006250"/>
            <a:ext cx="7475335" cy="2984851"/>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SynchronousQueue</a:t>
            </a:r>
            <a:endParaRPr/>
          </a:p>
        </p:txBody>
      </p:sp>
      <p:pic>
        <p:nvPicPr>
          <p:cNvPr id="1131" name="Google Shape;1131;p189"/>
          <p:cNvPicPr preferRelativeResize="0"/>
          <p:nvPr/>
        </p:nvPicPr>
        <p:blipFill>
          <a:blip r:embed="rId3">
            <a:alphaModFix/>
          </a:blip>
          <a:stretch>
            <a:fillRect/>
          </a:stretch>
        </p:blipFill>
        <p:spPr>
          <a:xfrm>
            <a:off x="152400" y="2006250"/>
            <a:ext cx="8839199" cy="2782287"/>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BlockingDeque</a:t>
            </a:r>
            <a:endParaRPr/>
          </a:p>
        </p:txBody>
      </p:sp>
      <p:sp>
        <p:nvSpPr>
          <p:cNvPr id="1137" name="Google Shape;1137;p1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BlockingDeque merupakan turunan dari BlockingQueue</a:t>
            </a:r>
            <a:endParaRPr/>
          </a:p>
          <a:p>
            <a:pPr indent="-311150" lvl="0" marL="457200" rtl="0" algn="l">
              <a:spcBef>
                <a:spcPts val="0"/>
              </a:spcBef>
              <a:spcAft>
                <a:spcPts val="0"/>
              </a:spcAft>
              <a:buSzPts val="1300"/>
              <a:buChar char="●"/>
            </a:pPr>
            <a:r>
              <a:rPr lang="id"/>
              <a:t>BlockingDeque tidak hanya mendukung FIFO (first in first out), tapi juga LIFO (last in last out)</a:t>
            </a:r>
            <a:endParaRPr/>
          </a:p>
          <a:p>
            <a:pPr indent="-311150" lvl="0" marL="457200" rtl="0" algn="l">
              <a:spcBef>
                <a:spcPts val="0"/>
              </a:spcBef>
              <a:spcAft>
                <a:spcPts val="0"/>
              </a:spcAft>
              <a:buSzPts val="1300"/>
              <a:buChar char="●"/>
            </a:pPr>
            <a:r>
              <a:rPr lang="id"/>
              <a:t>Implementasi BlockingDeque hanyalan LinkedBlockingDeque</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https://docs.oracle.com/en/java/javase/16/docs/api/java.base/java/util/concurrent/BlockingDeque.html</a:t>
            </a:r>
            <a:r>
              <a:rPr lang="id"/>
              <a:t> </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BlockingDeque (1)</a:t>
            </a:r>
            <a:endParaRPr/>
          </a:p>
        </p:txBody>
      </p:sp>
      <p:pic>
        <p:nvPicPr>
          <p:cNvPr id="1143" name="Google Shape;1143;p191"/>
          <p:cNvPicPr preferRelativeResize="0"/>
          <p:nvPr/>
        </p:nvPicPr>
        <p:blipFill>
          <a:blip r:embed="rId3">
            <a:alphaModFix/>
          </a:blip>
          <a:stretch>
            <a:fillRect/>
          </a:stretch>
        </p:blipFill>
        <p:spPr>
          <a:xfrm>
            <a:off x="152400" y="2006250"/>
            <a:ext cx="8176397" cy="2984849"/>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BlockingDeque (2)</a:t>
            </a:r>
            <a:endParaRPr/>
          </a:p>
        </p:txBody>
      </p:sp>
      <p:pic>
        <p:nvPicPr>
          <p:cNvPr id="1149" name="Google Shape;1149;p192"/>
          <p:cNvPicPr preferRelativeResize="0"/>
          <p:nvPr/>
        </p:nvPicPr>
        <p:blipFill>
          <a:blip r:embed="rId3">
            <a:alphaModFix/>
          </a:blip>
          <a:stretch>
            <a:fillRect/>
          </a:stretch>
        </p:blipFill>
        <p:spPr>
          <a:xfrm>
            <a:off x="152400" y="2006250"/>
            <a:ext cx="8839201" cy="272507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TransferQueue</a:t>
            </a:r>
            <a:endParaRPr/>
          </a:p>
        </p:txBody>
      </p:sp>
      <p:sp>
        <p:nvSpPr>
          <p:cNvPr id="1155" name="Google Shape;1155;p1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TransferQueue Merupakan turunan dari BlockingQueue yang membolehkan pengirim data ke queue menunggu sampai data ada yang menerima</a:t>
            </a:r>
            <a:endParaRPr/>
          </a:p>
          <a:p>
            <a:pPr indent="-311150" lvl="0" marL="457200" rtl="0" algn="l">
              <a:spcBef>
                <a:spcPts val="0"/>
              </a:spcBef>
              <a:spcAft>
                <a:spcPts val="0"/>
              </a:spcAft>
              <a:buSzPts val="1300"/>
              <a:buChar char="●"/>
            </a:pPr>
            <a:r>
              <a:rPr lang="id"/>
              <a:t>Implementasi TransferQueue hanyalah LinkedTransferQueue</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https://docs.oracle.com/en/java/javase/16/docs/api/java.base/java/util/concurrent/TransferQueue.html</a:t>
            </a:r>
            <a:r>
              <a:rPr lang="id"/>
              <a:t> </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TransferQueue</a:t>
            </a:r>
            <a:endParaRPr/>
          </a:p>
        </p:txBody>
      </p:sp>
      <p:pic>
        <p:nvPicPr>
          <p:cNvPr id="1161" name="Google Shape;1161;p194"/>
          <p:cNvPicPr preferRelativeResize="0"/>
          <p:nvPr/>
        </p:nvPicPr>
        <p:blipFill>
          <a:blip r:embed="rId3">
            <a:alphaModFix/>
          </a:blip>
          <a:stretch>
            <a:fillRect/>
          </a:stretch>
        </p:blipFill>
        <p:spPr>
          <a:xfrm>
            <a:off x="152400" y="2006250"/>
            <a:ext cx="8754823" cy="2984851"/>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19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Concurrent Map</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ConcurrentMap</a:t>
            </a:r>
            <a:endParaRPr/>
          </a:p>
        </p:txBody>
      </p:sp>
      <p:sp>
        <p:nvSpPr>
          <p:cNvPr id="1172" name="Google Shape;1172;p1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ConcurrentMap merupakan turunan dari Map yang thread safe, dan cocok jika memang diakses oleh lebih dari satu thread</a:t>
            </a:r>
            <a:endParaRPr/>
          </a:p>
          <a:p>
            <a:pPr indent="-311150" lvl="0" marL="457200" rtl="0" algn="l">
              <a:spcBef>
                <a:spcPts val="0"/>
              </a:spcBef>
              <a:spcAft>
                <a:spcPts val="0"/>
              </a:spcAft>
              <a:buSzPts val="1300"/>
              <a:buChar char="●"/>
            </a:pPr>
            <a:r>
              <a:rPr lang="id"/>
              <a:t>Tidak ada hal yang spesial dari ConcurrentMap, semua operasi method nya sama seperti Map, yang membedakan adalah pada ConcurrentMap, dijamin thread safe</a:t>
            </a:r>
            <a:endParaRPr/>
          </a:p>
          <a:p>
            <a:pPr indent="-311150" lvl="0" marL="457200" rtl="0" algn="l">
              <a:spcBef>
                <a:spcPts val="0"/>
              </a:spcBef>
              <a:spcAft>
                <a:spcPts val="0"/>
              </a:spcAft>
              <a:buSzPts val="1300"/>
              <a:buChar char="●"/>
            </a:pPr>
            <a:r>
              <a:rPr lang="id"/>
              <a:t>Implementasi dari interface ConcurrentMap adalah class ConcurrentHashMap</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https://docs.oracle.com/en/java/javase/16/docs/api/java.base/java/util/concurrent/ConcurrentMap.html</a:t>
            </a:r>
            <a:r>
              <a:rPr lang="id"/>
              <a:t> </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ConcurrentMap</a:t>
            </a:r>
            <a:endParaRPr/>
          </a:p>
        </p:txBody>
      </p:sp>
      <p:pic>
        <p:nvPicPr>
          <p:cNvPr id="1178" name="Google Shape;1178;p197"/>
          <p:cNvPicPr preferRelativeResize="0"/>
          <p:nvPr/>
        </p:nvPicPr>
        <p:blipFill>
          <a:blip r:embed="rId3">
            <a:alphaModFix/>
          </a:blip>
          <a:stretch>
            <a:fillRect/>
          </a:stretch>
        </p:blipFill>
        <p:spPr>
          <a:xfrm>
            <a:off x="152400" y="2006250"/>
            <a:ext cx="8839200" cy="2891634"/>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Konversi dari Java Collection</a:t>
            </a:r>
            <a:endParaRPr/>
          </a:p>
        </p:txBody>
      </p:sp>
      <p:sp>
        <p:nvSpPr>
          <p:cNvPr id="1184" name="Google Shape;1184;p19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kasus tertentu, kadang kita tetap butuh menggunakan Java Collection, namun butuh menggunakan multiple thread</a:t>
            </a:r>
            <a:endParaRPr/>
          </a:p>
          <a:p>
            <a:pPr indent="-311150" lvl="0" marL="457200" rtl="0" algn="l">
              <a:spcBef>
                <a:spcPts val="0"/>
              </a:spcBef>
              <a:spcAft>
                <a:spcPts val="0"/>
              </a:spcAft>
              <a:buSzPts val="1300"/>
              <a:buChar char="●"/>
            </a:pPr>
            <a:r>
              <a:rPr lang="id"/>
              <a:t>Untuk kasus seperti itu, disarankan merubah Java Collection menjadi synchronized menggunakan helper method Collections.synchronized…(collection)</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Konversi Java Collection</a:t>
            </a:r>
            <a:endParaRPr/>
          </a:p>
        </p:txBody>
      </p:sp>
      <p:pic>
        <p:nvPicPr>
          <p:cNvPr id="1190" name="Google Shape;1190;p199"/>
          <p:cNvPicPr preferRelativeResize="0"/>
          <p:nvPr/>
        </p:nvPicPr>
        <p:blipFill>
          <a:blip r:embed="rId3">
            <a:alphaModFix/>
          </a:blip>
          <a:stretch>
            <a:fillRect/>
          </a:stretch>
        </p:blipFill>
        <p:spPr>
          <a:xfrm>
            <a:off x="152400" y="2006250"/>
            <a:ext cx="8839198" cy="1553683"/>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20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Local</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2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ThreadLocal</a:t>
            </a:r>
            <a:endParaRPr/>
          </a:p>
        </p:txBody>
      </p:sp>
      <p:sp>
        <p:nvSpPr>
          <p:cNvPr id="1201" name="Google Shape;1201;p20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ThreadLocal merupakan fitur di Java untuk menyimpan data</a:t>
            </a:r>
            <a:endParaRPr/>
          </a:p>
          <a:p>
            <a:pPr indent="-311150" lvl="0" marL="457200" rtl="0" algn="l">
              <a:spcBef>
                <a:spcPts val="0"/>
              </a:spcBef>
              <a:spcAft>
                <a:spcPts val="0"/>
              </a:spcAft>
              <a:buSzPts val="1300"/>
              <a:buChar char="●"/>
            </a:pPr>
            <a:r>
              <a:rPr lang="id"/>
              <a:t>ThreadLocal memberi kita kemampuan untuk menyimpan data yang hanya bisa digunakan di thread tersebut</a:t>
            </a:r>
            <a:endParaRPr/>
          </a:p>
          <a:p>
            <a:pPr indent="-311150" lvl="0" marL="457200" rtl="0" algn="l">
              <a:spcBef>
                <a:spcPts val="0"/>
              </a:spcBef>
              <a:spcAft>
                <a:spcPts val="0"/>
              </a:spcAft>
              <a:buSzPts val="1300"/>
              <a:buChar char="●"/>
            </a:pPr>
            <a:r>
              <a:rPr lang="id"/>
              <a:t>Tiap thread akan memiliki data yang berbeda dan tidak saling terhubung antar thread</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https://docs.oracle.com/en/java/javase/16/docs/api/java.base/java/lang/ThreadLocal.html</a:t>
            </a:r>
            <a:r>
              <a:rPr lang="id"/>
              <a:t> </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2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UserService</a:t>
            </a:r>
            <a:endParaRPr/>
          </a:p>
        </p:txBody>
      </p:sp>
      <p:pic>
        <p:nvPicPr>
          <p:cNvPr id="1207" name="Google Shape;1207;p202"/>
          <p:cNvPicPr preferRelativeResize="0"/>
          <p:nvPr/>
        </p:nvPicPr>
        <p:blipFill>
          <a:blip r:embed="rId3">
            <a:alphaModFix/>
          </a:blip>
          <a:stretch>
            <a:fillRect/>
          </a:stretch>
        </p:blipFill>
        <p:spPr>
          <a:xfrm>
            <a:off x="152400" y="2006250"/>
            <a:ext cx="7942740" cy="2984851"/>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2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UserService</a:t>
            </a:r>
            <a:endParaRPr/>
          </a:p>
        </p:txBody>
      </p:sp>
      <p:pic>
        <p:nvPicPr>
          <p:cNvPr id="1213" name="Google Shape;1213;p203"/>
          <p:cNvPicPr preferRelativeResize="0"/>
          <p:nvPr/>
        </p:nvPicPr>
        <p:blipFill>
          <a:blip r:embed="rId3">
            <a:alphaModFix/>
          </a:blip>
          <a:stretch>
            <a:fillRect/>
          </a:stretch>
        </p:blipFill>
        <p:spPr>
          <a:xfrm>
            <a:off x="152400" y="2006250"/>
            <a:ext cx="8780676" cy="298485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20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 Local Random</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2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ThreadLocalRandom</a:t>
            </a:r>
            <a:endParaRPr/>
          </a:p>
        </p:txBody>
      </p:sp>
      <p:sp>
        <p:nvSpPr>
          <p:cNvPr id="1224" name="Google Shape;1224;p20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materi-materi sebelumnya, kita sering menggunakan class Random untuk membuat angka random</a:t>
            </a:r>
            <a:endParaRPr/>
          </a:p>
          <a:p>
            <a:pPr indent="-311150" lvl="0" marL="457200" rtl="0" algn="l">
              <a:spcBef>
                <a:spcPts val="0"/>
              </a:spcBef>
              <a:spcAft>
                <a:spcPts val="0"/>
              </a:spcAft>
              <a:buSzPts val="1300"/>
              <a:buChar char="●"/>
            </a:pPr>
            <a:r>
              <a:rPr lang="id"/>
              <a:t>Saat menggunakan object Random secara parallel, maka di dalam class Random kita akan melakukan sharing variable, hal ini membuat class Random tidak aman dan juga lambat</a:t>
            </a:r>
            <a:endParaRPr/>
          </a:p>
          <a:p>
            <a:pPr indent="-311150" lvl="0" marL="457200" rtl="0" algn="l">
              <a:spcBef>
                <a:spcPts val="0"/>
              </a:spcBef>
              <a:spcAft>
                <a:spcPts val="0"/>
              </a:spcAft>
              <a:buSzPts val="1300"/>
              <a:buChar char="●"/>
            </a:pPr>
            <a:r>
              <a:rPr lang="id"/>
              <a:t>Oleh karena itu terdapat class ThreadLocalRandom, ThreadLocalRandom merupakan class yang seperti ThreadLocal, namun spesial untuk Random, sehingga kita bisa membuat angka random tanpa khawatir dengan race condition, karena object Random nya akan berbeda tiap thread</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https://docs.oracle.com/en/java/javase/16/docs/api/java.base/java/util/concurrent/ThreadLocalRandom.html</a:t>
            </a:r>
            <a:r>
              <a:rPr lang="id"/>
              <a:t> </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2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Random</a:t>
            </a:r>
            <a:endParaRPr/>
          </a:p>
        </p:txBody>
      </p:sp>
      <p:pic>
        <p:nvPicPr>
          <p:cNvPr id="1230" name="Google Shape;1230;p206"/>
          <p:cNvPicPr preferRelativeResize="0"/>
          <p:nvPr/>
        </p:nvPicPr>
        <p:blipFill>
          <a:blip r:embed="rId3">
            <a:alphaModFix/>
          </a:blip>
          <a:stretch>
            <a:fillRect/>
          </a:stretch>
        </p:blipFill>
        <p:spPr>
          <a:xfrm>
            <a:off x="152400" y="2006250"/>
            <a:ext cx="8839198" cy="2909244"/>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ThreadLocalRandom Stream</a:t>
            </a:r>
            <a:endParaRPr/>
          </a:p>
        </p:txBody>
      </p:sp>
      <p:sp>
        <p:nvSpPr>
          <p:cNvPr id="1236" name="Google Shape;1236;p20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Fitur lainnya di ThreadLocalRandom adalah, dia memiliki fitur untuk membuat random number secara stream</a:t>
            </a:r>
            <a:endParaRPr/>
          </a:p>
          <a:p>
            <a:pPr indent="-311150" lvl="0" marL="457200" rtl="0" algn="l">
              <a:spcBef>
                <a:spcPts val="0"/>
              </a:spcBef>
              <a:spcAft>
                <a:spcPts val="0"/>
              </a:spcAft>
              <a:buSzPts val="1300"/>
              <a:buChar char="●"/>
            </a:pPr>
            <a:r>
              <a:rPr lang="id"/>
              <a:t>Hal ini mempermudah kita ketika ingin melakukan random number tanpa harus pusing membuat perulangan secara manual</a:t>
            </a:r>
            <a:endParaRPr/>
          </a:p>
          <a:p>
            <a:pPr indent="-311150" lvl="0" marL="457200" rtl="0" algn="l">
              <a:spcBef>
                <a:spcPts val="0"/>
              </a:spcBef>
              <a:spcAft>
                <a:spcPts val="0"/>
              </a:spcAft>
              <a:buSzPts val="1300"/>
              <a:buChar char="●"/>
            </a:pPr>
            <a:r>
              <a:rPr lang="id"/>
              <a:t>ada banyak method di ThreadLocalRandom seperti ints(), longs() dan doubles() yang mengembalikan data stream</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2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ThreadLocalRandom Stream</a:t>
            </a:r>
            <a:endParaRPr/>
          </a:p>
        </p:txBody>
      </p:sp>
      <p:pic>
        <p:nvPicPr>
          <p:cNvPr id="1242" name="Google Shape;1242;p208"/>
          <p:cNvPicPr preferRelativeResize="0"/>
          <p:nvPr/>
        </p:nvPicPr>
        <p:blipFill>
          <a:blip r:embed="rId3">
            <a:alphaModFix/>
          </a:blip>
          <a:stretch>
            <a:fillRect/>
          </a:stretch>
        </p:blipFill>
        <p:spPr>
          <a:xfrm>
            <a:off x="152400" y="2006250"/>
            <a:ext cx="8839202" cy="2520809"/>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20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Fork Join</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2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Fork/Join</a:t>
            </a:r>
            <a:endParaRPr/>
          </a:p>
        </p:txBody>
      </p:sp>
      <p:sp>
        <p:nvSpPr>
          <p:cNvPr id="1253" name="Google Shape;1253;p210"/>
          <p:cNvSpPr txBox="1"/>
          <p:nvPr>
            <p:ph idx="1" type="body"/>
          </p:nvPr>
        </p:nvSpPr>
        <p:spPr>
          <a:xfrm>
            <a:off x="729450" y="19134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Fork/Join merupakan fitur yang mulai kenalkan di Java 7 untuk membantu mempercepat proses secara parallel memanfaatkan semua cpu processor. Proses ini dicapai menggunakan teknik Devide and Conquer</a:t>
            </a:r>
            <a:endParaRPr/>
          </a:p>
          <a:p>
            <a:pPr indent="-311150" lvl="0" marL="457200" rtl="0" algn="l">
              <a:spcBef>
                <a:spcPts val="0"/>
              </a:spcBef>
              <a:spcAft>
                <a:spcPts val="0"/>
              </a:spcAft>
              <a:buSzPts val="1300"/>
              <a:buChar char="●"/>
            </a:pPr>
            <a:r>
              <a:rPr lang="id"/>
              <a:t>Secara sederhana, Fork/Join akan melakukan FORK, memecah pekerjaan menjadi pekerjaan yang lebih kecil dan dieksekusi secara asynchronous</a:t>
            </a:r>
            <a:endParaRPr/>
          </a:p>
          <a:p>
            <a:pPr indent="-311150" lvl="0" marL="457200" rtl="0" algn="l">
              <a:spcBef>
                <a:spcPts val="0"/>
              </a:spcBef>
              <a:spcAft>
                <a:spcPts val="0"/>
              </a:spcAft>
              <a:buSzPts val="1300"/>
              <a:buChar char="●"/>
            </a:pPr>
            <a:r>
              <a:rPr lang="id"/>
              <a:t>Setelah proses FORK selesai, proses JOIN akan dilakukan, yaitu menggabungkan hasil semua pekerjaan yang telah selesai menjadi satu hasil</a:t>
            </a:r>
            <a:endParaRPr/>
          </a:p>
          <a:p>
            <a:pPr indent="-311150" lvl="0" marL="457200" rtl="0" algn="l">
              <a:spcBef>
                <a:spcPts val="0"/>
              </a:spcBef>
              <a:spcAft>
                <a:spcPts val="0"/>
              </a:spcAft>
              <a:buSzPts val="1300"/>
              <a:buChar char="●"/>
            </a:pPr>
            <a:r>
              <a:rPr lang="id"/>
              <a:t>Fork/Join menggunakan thread pool bernama ForkJoinPool dan menggunakan thread ForkJoinWorkerThread</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https://docs.oracle.com/en/java/javase/16/docs/api/java.base/java/util/concurrent/ForkJoinPool.html</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https://docs.oracle.com/en/java/javase/16/docs/api/java.base/java/util/concurrent/ForkJoinWorkerThread.html</a:t>
            </a:r>
            <a:r>
              <a:rPr lang="id"/>
              <a:t> </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pic>
        <p:nvPicPr>
          <p:cNvPr id="1258" name="Google Shape;1258;p211"/>
          <p:cNvPicPr preferRelativeResize="0"/>
          <p:nvPr/>
        </p:nvPicPr>
        <p:blipFill>
          <a:blip r:embed="rId3">
            <a:alphaModFix/>
          </a:blip>
          <a:stretch>
            <a:fillRect/>
          </a:stretch>
        </p:blipFill>
        <p:spPr>
          <a:xfrm>
            <a:off x="1726128" y="1213000"/>
            <a:ext cx="7264476" cy="3809599"/>
          </a:xfrm>
          <a:prstGeom prst="rect">
            <a:avLst/>
          </a:prstGeom>
          <a:noFill/>
          <a:ln>
            <a:noFill/>
          </a:ln>
        </p:spPr>
      </p:pic>
      <p:sp>
        <p:nvSpPr>
          <p:cNvPr id="1259" name="Google Shape;1259;p2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Fork/Join</a:t>
            </a:r>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2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Work Stealing Algorithm</a:t>
            </a:r>
            <a:endParaRPr/>
          </a:p>
        </p:txBody>
      </p:sp>
      <p:sp>
        <p:nvSpPr>
          <p:cNvPr id="1265" name="Google Shape;1265;p21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Fork/Join Thread menggunakan algoritma work stealing (mencuri), artinya jika Fork/Join akan secara maksimal menjalankan pekerjaan di semua thread, dan jika ada thread yang sudah selesai, maka thread tersebut akan coba mencuri pekerjaan dari queue thread lain</a:t>
            </a:r>
            <a:endParaRPr/>
          </a:p>
          <a:p>
            <a:pPr indent="-311150" lvl="0" marL="457200" rtl="0" algn="l">
              <a:spcBef>
                <a:spcPts val="0"/>
              </a:spcBef>
              <a:spcAft>
                <a:spcPts val="0"/>
              </a:spcAft>
              <a:buSzPts val="1300"/>
              <a:buChar char="●"/>
            </a:pPr>
            <a:r>
              <a:rPr lang="id"/>
              <a:t>Algoritma ini memastikan bahwa semua thread akan bekerja dan pekerjaan diselesaikan secepatnya</a:t>
            </a:r>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2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ForkJoinPool</a:t>
            </a:r>
            <a:endParaRPr/>
          </a:p>
        </p:txBody>
      </p:sp>
      <p:pic>
        <p:nvPicPr>
          <p:cNvPr id="1271" name="Google Shape;1271;p213"/>
          <p:cNvPicPr preferRelativeResize="0"/>
          <p:nvPr/>
        </p:nvPicPr>
        <p:blipFill>
          <a:blip r:embed="rId3">
            <a:alphaModFix/>
          </a:blip>
          <a:stretch>
            <a:fillRect/>
          </a:stretch>
        </p:blipFill>
        <p:spPr>
          <a:xfrm>
            <a:off x="152400" y="2006250"/>
            <a:ext cx="8839200" cy="1915944"/>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2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ForkJoinTask</a:t>
            </a:r>
            <a:endParaRPr/>
          </a:p>
        </p:txBody>
      </p:sp>
      <p:sp>
        <p:nvSpPr>
          <p:cNvPr id="1277" name="Google Shape;1277;p2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ForkJoinPool merupakan turunan dari ExecutorService, jadi cara penggunaannya sama dengan ExecutorService sebelumnya yang sudah kita bahas</a:t>
            </a:r>
            <a:endParaRPr/>
          </a:p>
          <a:p>
            <a:pPr indent="-311150" lvl="0" marL="457200" rtl="0" algn="l">
              <a:spcBef>
                <a:spcPts val="0"/>
              </a:spcBef>
              <a:spcAft>
                <a:spcPts val="0"/>
              </a:spcAft>
              <a:buSzPts val="1300"/>
              <a:buChar char="●"/>
            </a:pPr>
            <a:r>
              <a:rPr lang="id"/>
              <a:t>Namun agar tujuan dari ForkJoinPool tercapai, baiknya kita menggunakan ForkJoinTask sebagai task yang kita submit ke ForkJoinPool</a:t>
            </a:r>
            <a:endParaRPr/>
          </a:p>
          <a:p>
            <a:pPr indent="-311150" lvl="0" marL="457200" rtl="0" algn="l">
              <a:spcBef>
                <a:spcPts val="0"/>
              </a:spcBef>
              <a:spcAft>
                <a:spcPts val="0"/>
              </a:spcAft>
              <a:buSzPts val="1300"/>
              <a:buChar char="●"/>
            </a:pPr>
            <a:r>
              <a:rPr lang="id"/>
              <a:t>ForkJoinTask adalah turunan dari Callable, sehingga kita bisa menggunakan method execute() atau submit() untuk mengirim task ke ForkJoinPool</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https://docs.oracle.com/en/java/javase/16/docs/api/java.base/java/util/concurrent/ForkJoinTask.html</a:t>
            </a:r>
            <a:r>
              <a:rPr lang="id"/>
              <a:t> </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2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RecursiveAction dan RecursiveTask</a:t>
            </a:r>
            <a:endParaRPr/>
          </a:p>
        </p:txBody>
      </p:sp>
      <p:sp>
        <p:nvSpPr>
          <p:cNvPr id="1283" name="Google Shape;1283;p2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ForkJoinTask adalah abstract class, dan terdapat 2 abstract class turunannya yang bisa kita gunakan agar lebih mudah membuat ForkJoinTask</a:t>
            </a:r>
            <a:endParaRPr/>
          </a:p>
          <a:p>
            <a:pPr indent="-311150" lvl="0" marL="457200" rtl="0" algn="l">
              <a:spcBef>
                <a:spcPts val="0"/>
              </a:spcBef>
              <a:spcAft>
                <a:spcPts val="0"/>
              </a:spcAft>
              <a:buSzPts val="1300"/>
              <a:buChar char="●"/>
            </a:pPr>
            <a:r>
              <a:rPr lang="id"/>
              <a:t>RecursiveAction, merupakan class yang bisa kita gunakan untuk task yang tidak mengembalikan result seperti Runnable</a:t>
            </a:r>
            <a:endParaRPr/>
          </a:p>
          <a:p>
            <a:pPr indent="-311150" lvl="0" marL="457200" rtl="0" algn="l">
              <a:spcBef>
                <a:spcPts val="0"/>
              </a:spcBef>
              <a:spcAft>
                <a:spcPts val="0"/>
              </a:spcAft>
              <a:buSzPts val="1300"/>
              <a:buChar char="●"/>
            </a:pPr>
            <a:r>
              <a:rPr lang="id"/>
              <a:t>RecursiveTask, merupakan class yang bisa kita gunakan untuk task yang mengembalikan result seperti Callable</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https://docs.oracle.com/en/java/javase/16/docs/api/java.base/java/util/concurrent/RecursiveAction.html</a:t>
            </a:r>
            <a:endParaRPr/>
          </a:p>
          <a:p>
            <a:pPr indent="-311150" lvl="0" marL="457200" rtl="0" algn="l">
              <a:spcBef>
                <a:spcPts val="0"/>
              </a:spcBef>
              <a:spcAft>
                <a:spcPts val="0"/>
              </a:spcAft>
              <a:buSzPts val="1300"/>
              <a:buChar char="●"/>
            </a:pPr>
            <a:r>
              <a:rPr lang="id" u="sng">
                <a:solidFill>
                  <a:schemeClr val="hlink"/>
                </a:solidFill>
                <a:hlinkClick r:id="rId4"/>
              </a:rPr>
              <a:t>https://docs.oracle.com/en/java/javase/16/docs/api/java.base/java/util/concurrent/RecursiveTask.html</a:t>
            </a:r>
            <a:r>
              <a:rPr lang="id"/>
              <a:t> </a:t>
            </a:r>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2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RecursiveAction</a:t>
            </a:r>
            <a:endParaRPr/>
          </a:p>
        </p:txBody>
      </p:sp>
      <p:pic>
        <p:nvPicPr>
          <p:cNvPr id="1289" name="Google Shape;1289;p216"/>
          <p:cNvPicPr preferRelativeResize="0"/>
          <p:nvPr/>
        </p:nvPicPr>
        <p:blipFill>
          <a:blip r:embed="rId3">
            <a:alphaModFix/>
          </a:blip>
          <a:stretch>
            <a:fillRect/>
          </a:stretch>
        </p:blipFill>
        <p:spPr>
          <a:xfrm>
            <a:off x="152400" y="2006250"/>
            <a:ext cx="3994875" cy="2984850"/>
          </a:xfrm>
          <a:prstGeom prst="rect">
            <a:avLst/>
          </a:prstGeom>
          <a:noFill/>
          <a:ln>
            <a:noFill/>
          </a:ln>
        </p:spPr>
      </p:pic>
      <p:pic>
        <p:nvPicPr>
          <p:cNvPr id="1290" name="Google Shape;1290;p216"/>
          <p:cNvPicPr preferRelativeResize="0"/>
          <p:nvPr/>
        </p:nvPicPr>
        <p:blipFill>
          <a:blip r:embed="rId4">
            <a:alphaModFix/>
          </a:blip>
          <a:stretch>
            <a:fillRect/>
          </a:stretch>
        </p:blipFill>
        <p:spPr>
          <a:xfrm>
            <a:off x="4299675" y="2006250"/>
            <a:ext cx="4691927" cy="2182563"/>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2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Eksekusi RecursiveAction</a:t>
            </a:r>
            <a:endParaRPr/>
          </a:p>
        </p:txBody>
      </p:sp>
      <p:pic>
        <p:nvPicPr>
          <p:cNvPr id="1296" name="Google Shape;1296;p217"/>
          <p:cNvPicPr preferRelativeResize="0"/>
          <p:nvPr/>
        </p:nvPicPr>
        <p:blipFill>
          <a:blip r:embed="rId3">
            <a:alphaModFix/>
          </a:blip>
          <a:stretch>
            <a:fillRect/>
          </a:stretch>
        </p:blipFill>
        <p:spPr>
          <a:xfrm>
            <a:off x="152400" y="2006250"/>
            <a:ext cx="8839199" cy="2295736"/>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2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RecursiveTask</a:t>
            </a:r>
            <a:endParaRPr/>
          </a:p>
        </p:txBody>
      </p:sp>
      <p:pic>
        <p:nvPicPr>
          <p:cNvPr id="1302" name="Google Shape;1302;p218"/>
          <p:cNvPicPr preferRelativeResize="0"/>
          <p:nvPr/>
        </p:nvPicPr>
        <p:blipFill>
          <a:blip r:embed="rId3">
            <a:alphaModFix/>
          </a:blip>
          <a:stretch>
            <a:fillRect/>
          </a:stretch>
        </p:blipFill>
        <p:spPr>
          <a:xfrm>
            <a:off x="152400" y="2006250"/>
            <a:ext cx="4232363" cy="2984849"/>
          </a:xfrm>
          <a:prstGeom prst="rect">
            <a:avLst/>
          </a:prstGeom>
          <a:noFill/>
          <a:ln>
            <a:noFill/>
          </a:ln>
        </p:spPr>
      </p:pic>
      <p:pic>
        <p:nvPicPr>
          <p:cNvPr id="1303" name="Google Shape;1303;p218"/>
          <p:cNvPicPr preferRelativeResize="0"/>
          <p:nvPr/>
        </p:nvPicPr>
        <p:blipFill>
          <a:blip r:embed="rId4">
            <a:alphaModFix/>
          </a:blip>
          <a:stretch>
            <a:fillRect/>
          </a:stretch>
        </p:blipFill>
        <p:spPr>
          <a:xfrm>
            <a:off x="4537163" y="2006250"/>
            <a:ext cx="4454437" cy="2196556"/>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2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Eksekusi RecursiveTask</a:t>
            </a:r>
            <a:endParaRPr/>
          </a:p>
        </p:txBody>
      </p:sp>
      <p:pic>
        <p:nvPicPr>
          <p:cNvPr id="1309" name="Google Shape;1309;p219"/>
          <p:cNvPicPr preferRelativeResize="0"/>
          <p:nvPr/>
        </p:nvPicPr>
        <p:blipFill>
          <a:blip r:embed="rId3">
            <a:alphaModFix/>
          </a:blip>
          <a:stretch>
            <a:fillRect/>
          </a:stretch>
        </p:blipFill>
        <p:spPr>
          <a:xfrm>
            <a:off x="152400" y="2006250"/>
            <a:ext cx="8839201" cy="2350591"/>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22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Parallel Stream</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2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Parallel Stream</a:t>
            </a:r>
            <a:endParaRPr/>
          </a:p>
        </p:txBody>
      </p:sp>
      <p:sp>
        <p:nvSpPr>
          <p:cNvPr id="1320" name="Google Shape;1320;p2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fitur yang menarik di Java Stream adalah, Stream bisa dijalankan secara parallel</a:t>
            </a:r>
            <a:endParaRPr/>
          </a:p>
          <a:p>
            <a:pPr indent="-311150" lvl="0" marL="457200" rtl="0" algn="l">
              <a:spcBef>
                <a:spcPts val="0"/>
              </a:spcBef>
              <a:spcAft>
                <a:spcPts val="0"/>
              </a:spcAft>
              <a:buSzPts val="1300"/>
              <a:buChar char="●"/>
            </a:pPr>
            <a:r>
              <a:rPr lang="id"/>
              <a:t>Secara default, Parallel Stream akan dijalankan di ForkJoinPool, dimana akan di running secara default menggunakan Thread sejumlah maksimal total CPU kita</a:t>
            </a:r>
            <a:endParaRPr/>
          </a:p>
          <a:p>
            <a:pPr indent="-311150" lvl="0" marL="457200" rtl="0" algn="l">
              <a:spcBef>
                <a:spcPts val="0"/>
              </a:spcBef>
              <a:spcAft>
                <a:spcPts val="0"/>
              </a:spcAft>
              <a:buSzPts val="1300"/>
              <a:buChar char="●"/>
            </a:pPr>
            <a:r>
              <a:rPr lang="id"/>
              <a:t>Agar stream bisa berjalan parallel, kita cukup gunakan method parallel()</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2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Parallel Stream</a:t>
            </a:r>
            <a:endParaRPr/>
          </a:p>
        </p:txBody>
      </p:sp>
      <p:pic>
        <p:nvPicPr>
          <p:cNvPr id="1326" name="Google Shape;1326;p222"/>
          <p:cNvPicPr preferRelativeResize="0"/>
          <p:nvPr/>
        </p:nvPicPr>
        <p:blipFill>
          <a:blip r:embed="rId3">
            <a:alphaModFix/>
          </a:blip>
          <a:stretch>
            <a:fillRect/>
          </a:stretch>
        </p:blipFill>
        <p:spPr>
          <a:xfrm>
            <a:off x="152400" y="2006250"/>
            <a:ext cx="8839200" cy="179228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2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Custom ForkJoinPool</a:t>
            </a:r>
            <a:endParaRPr/>
          </a:p>
        </p:txBody>
      </p:sp>
      <p:sp>
        <p:nvSpPr>
          <p:cNvPr id="1332" name="Google Shape;1332;p2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parallel() di Java Stream tidak memiliki parameter ForkJoinPool sama sekali, lantas bagaimana jika kita ingin menggunakan ForkJoinPool yang kita buat?</a:t>
            </a:r>
            <a:endParaRPr/>
          </a:p>
          <a:p>
            <a:pPr indent="-311150" lvl="0" marL="457200" rtl="0" algn="l">
              <a:spcBef>
                <a:spcPts val="0"/>
              </a:spcBef>
              <a:spcAft>
                <a:spcPts val="0"/>
              </a:spcAft>
              <a:buSzPts val="1300"/>
              <a:buChar char="●"/>
            </a:pPr>
            <a:r>
              <a:rPr lang="id"/>
              <a:t>Kita bisa mengeksekusi parallel stream nya dalam task nya ForkJoinPool</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2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Custom ForkJoinPool</a:t>
            </a:r>
            <a:endParaRPr/>
          </a:p>
        </p:txBody>
      </p:sp>
      <p:pic>
        <p:nvPicPr>
          <p:cNvPr id="1338" name="Google Shape;1338;p224"/>
          <p:cNvPicPr preferRelativeResize="0"/>
          <p:nvPr/>
        </p:nvPicPr>
        <p:blipFill>
          <a:blip r:embed="rId3">
            <a:alphaModFix/>
          </a:blip>
          <a:stretch>
            <a:fillRect/>
          </a:stretch>
        </p:blipFill>
        <p:spPr>
          <a:xfrm>
            <a:off x="152400" y="2006250"/>
            <a:ext cx="8373528" cy="2984849"/>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22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Reactive Stream</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2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Reactive Stream</a:t>
            </a:r>
            <a:endParaRPr/>
          </a:p>
        </p:txBody>
      </p:sp>
      <p:sp>
        <p:nvSpPr>
          <p:cNvPr id="1349" name="Google Shape;1349;p2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ini sudah sangat populer dengan paradigma concurrency yang bernama reactive programming</a:t>
            </a:r>
            <a:endParaRPr/>
          </a:p>
          <a:p>
            <a:pPr indent="-311150" lvl="0" marL="457200" rtl="0" algn="l">
              <a:spcBef>
                <a:spcPts val="0"/>
              </a:spcBef>
              <a:spcAft>
                <a:spcPts val="0"/>
              </a:spcAft>
              <a:buSzPts val="1300"/>
              <a:buChar char="●"/>
            </a:pPr>
            <a:r>
              <a:rPr lang="id"/>
              <a:t>Banyak sekali library untuk reactive programming seperti RxJava, Reactor, Akka Stream dan lain-lain</a:t>
            </a:r>
            <a:endParaRPr/>
          </a:p>
          <a:p>
            <a:pPr indent="-311150" lvl="0" marL="457200" rtl="0" algn="l">
              <a:spcBef>
                <a:spcPts val="0"/>
              </a:spcBef>
              <a:spcAft>
                <a:spcPts val="0"/>
              </a:spcAft>
              <a:buSzPts val="1300"/>
              <a:buChar char="●"/>
            </a:pPr>
            <a:r>
              <a:rPr lang="id"/>
              <a:t>Sejak Java 9, diperkenalkan fitur Reactive Stream di Java</a:t>
            </a:r>
            <a:endParaRPr/>
          </a:p>
          <a:p>
            <a:pPr indent="-311150" lvl="0" marL="457200" rtl="0" algn="l">
              <a:spcBef>
                <a:spcPts val="0"/>
              </a:spcBef>
              <a:spcAft>
                <a:spcPts val="0"/>
              </a:spcAft>
              <a:buSzPts val="1300"/>
              <a:buChar char="●"/>
            </a:pPr>
            <a:r>
              <a:rPr lang="id"/>
              <a:t>Reactive Stream merupakan standar baru untuk Asynchronous Stream Processing</a:t>
            </a:r>
            <a:endParaRPr/>
          </a:p>
          <a:p>
            <a:pPr indent="-311150" lvl="0" marL="457200" rtl="0" algn="l">
              <a:spcBef>
                <a:spcPts val="0"/>
              </a:spcBef>
              <a:spcAft>
                <a:spcPts val="0"/>
              </a:spcAft>
              <a:buSzPts val="1300"/>
              <a:buChar char="●"/>
            </a:pPr>
            <a:r>
              <a:rPr lang="id"/>
              <a:t>Detail spesifikasinya terdapat di website </a:t>
            </a:r>
            <a:r>
              <a:rPr lang="id" u="sng">
                <a:solidFill>
                  <a:schemeClr val="hlink"/>
                </a:solidFill>
                <a:hlinkClick r:id="rId3"/>
              </a:rPr>
              <a:t>http://www.reactive-streams.org/</a:t>
            </a:r>
            <a:r>
              <a:rPr lang="id"/>
              <a:t> </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2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Flow</a:t>
            </a:r>
            <a:endParaRPr/>
          </a:p>
        </p:txBody>
      </p:sp>
      <p:sp>
        <p:nvSpPr>
          <p:cNvPr id="1355" name="Google Shape;1355;p2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Reactive Stream, kita mengenal istilah namanya Flow (aliran data), berbeda dengan yang sebelumnya sudah kita pelajari tentang Thread, dalam Reactive Stream, yang difokuskan adalah aliran data</a:t>
            </a:r>
            <a:endParaRPr/>
          </a:p>
          <a:p>
            <a:pPr indent="-311150" lvl="0" marL="457200" rtl="0" algn="l">
              <a:spcBef>
                <a:spcPts val="0"/>
              </a:spcBef>
              <a:spcAft>
                <a:spcPts val="0"/>
              </a:spcAft>
              <a:buSzPts val="1300"/>
              <a:buChar char="●"/>
            </a:pPr>
            <a:r>
              <a:rPr lang="id"/>
              <a:t>Dalam aliran data, artinya ada yang mengirim data dan ada yang menerima data.</a:t>
            </a:r>
            <a:endParaRPr/>
          </a:p>
          <a:p>
            <a:pPr indent="-311150" lvl="0" marL="457200" rtl="0" algn="l">
              <a:spcBef>
                <a:spcPts val="0"/>
              </a:spcBef>
              <a:spcAft>
                <a:spcPts val="0"/>
              </a:spcAft>
              <a:buSzPts val="1300"/>
              <a:buChar char="●"/>
            </a:pPr>
            <a:r>
              <a:rPr lang="id"/>
              <a:t>Pihak yang mengirim data, kita sebut Publisher, dan pihak yang menerima data, kita sebut Subscriber</a:t>
            </a:r>
            <a:endParaRPr/>
          </a:p>
          <a:p>
            <a:pPr indent="-311150" lvl="0" marL="457200" rtl="0" algn="l">
              <a:spcBef>
                <a:spcPts val="0"/>
              </a:spcBef>
              <a:spcAft>
                <a:spcPts val="0"/>
              </a:spcAft>
              <a:buSzPts val="1300"/>
              <a:buChar char="●"/>
            </a:pPr>
            <a:r>
              <a:rPr lang="id"/>
              <a:t>Sebuah aliran data, kita sebut namanya Flow</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https://docs.oracle.com/en/java/javase/16/docs/api/java.base/java/util/concurrent/Flow.html</a:t>
            </a:r>
            <a:r>
              <a:rPr lang="id"/>
              <a:t> </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2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Flow</a:t>
            </a:r>
            <a:endParaRPr/>
          </a:p>
        </p:txBody>
      </p:sp>
      <p:pic>
        <p:nvPicPr>
          <p:cNvPr id="1361" name="Google Shape;1361;p228"/>
          <p:cNvPicPr preferRelativeResize="0"/>
          <p:nvPr/>
        </p:nvPicPr>
        <p:blipFill>
          <a:blip r:embed="rId3">
            <a:alphaModFix/>
          </a:blip>
          <a:stretch>
            <a:fillRect/>
          </a:stretch>
        </p:blipFill>
        <p:spPr>
          <a:xfrm>
            <a:off x="152400" y="2006250"/>
            <a:ext cx="8839204" cy="2231381"/>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2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Reactive Stream Class</a:t>
            </a:r>
            <a:endParaRPr/>
          </a:p>
        </p:txBody>
      </p:sp>
      <p:sp>
        <p:nvSpPr>
          <p:cNvPr id="1367" name="Google Shape;1367;p2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Implementasi dari Reactive Stream di Java disediakan dalam bentuk class Flow</a:t>
            </a:r>
            <a:endParaRPr/>
          </a:p>
          <a:p>
            <a:pPr indent="-311150" lvl="0" marL="457200" rtl="0" algn="l">
              <a:spcBef>
                <a:spcPts val="0"/>
              </a:spcBef>
              <a:spcAft>
                <a:spcPts val="0"/>
              </a:spcAft>
              <a:buSzPts val="1300"/>
              <a:buChar char="●"/>
            </a:pPr>
            <a:r>
              <a:rPr lang="id"/>
              <a:t>Untuk publisher, implementasinya menggunakan interface Flow.Publisher</a:t>
            </a:r>
            <a:endParaRPr/>
          </a:p>
          <a:p>
            <a:pPr indent="-311150" lvl="0" marL="457200" rtl="0" algn="l">
              <a:spcBef>
                <a:spcPts val="0"/>
              </a:spcBef>
              <a:spcAft>
                <a:spcPts val="0"/>
              </a:spcAft>
              <a:buSzPts val="1300"/>
              <a:buChar char="●"/>
            </a:pPr>
            <a:r>
              <a:rPr lang="id"/>
              <a:t>Dan untuk subscriber, implementasinya menggunakan interface Flow.Subscriber</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2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Subscriber</a:t>
            </a:r>
            <a:endParaRPr/>
          </a:p>
        </p:txBody>
      </p:sp>
      <p:pic>
        <p:nvPicPr>
          <p:cNvPr id="1373" name="Google Shape;1373;p230"/>
          <p:cNvPicPr preferRelativeResize="0"/>
          <p:nvPr/>
        </p:nvPicPr>
        <p:blipFill>
          <a:blip r:embed="rId3">
            <a:alphaModFix/>
          </a:blip>
          <a:stretch>
            <a:fillRect/>
          </a:stretch>
        </p:blipFill>
        <p:spPr>
          <a:xfrm>
            <a:off x="152400" y="2006250"/>
            <a:ext cx="3717550" cy="2984850"/>
          </a:xfrm>
          <a:prstGeom prst="rect">
            <a:avLst/>
          </a:prstGeom>
          <a:noFill/>
          <a:ln>
            <a:noFill/>
          </a:ln>
        </p:spPr>
      </p:pic>
      <p:pic>
        <p:nvPicPr>
          <p:cNvPr id="1374" name="Google Shape;1374;p230"/>
          <p:cNvPicPr preferRelativeResize="0"/>
          <p:nvPr/>
        </p:nvPicPr>
        <p:blipFill>
          <a:blip r:embed="rId4">
            <a:alphaModFix/>
          </a:blip>
          <a:stretch>
            <a:fillRect/>
          </a:stretch>
        </p:blipFill>
        <p:spPr>
          <a:xfrm>
            <a:off x="4022350" y="2006250"/>
            <a:ext cx="4969252" cy="2069048"/>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2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Publisher</a:t>
            </a:r>
            <a:endParaRPr/>
          </a:p>
        </p:txBody>
      </p:sp>
      <p:pic>
        <p:nvPicPr>
          <p:cNvPr id="1380" name="Google Shape;1380;p231"/>
          <p:cNvPicPr preferRelativeResize="0"/>
          <p:nvPr/>
        </p:nvPicPr>
        <p:blipFill>
          <a:blip r:embed="rId3">
            <a:alphaModFix/>
          </a:blip>
          <a:stretch>
            <a:fillRect/>
          </a:stretch>
        </p:blipFill>
        <p:spPr>
          <a:xfrm>
            <a:off x="152400" y="2006250"/>
            <a:ext cx="8822867" cy="298485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2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a:t>
            </a:r>
            <a:endParaRPr/>
          </a:p>
        </p:txBody>
      </p:sp>
      <p:sp>
        <p:nvSpPr>
          <p:cNvPr id="1386" name="Google Shape;1386;p2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publisher mengirim data terlalu cepat, maka secara default data akan di buffer</a:t>
            </a:r>
            <a:endParaRPr/>
          </a:p>
          <a:p>
            <a:pPr indent="-311150" lvl="0" marL="457200" rtl="0" algn="l">
              <a:spcBef>
                <a:spcPts val="0"/>
              </a:spcBef>
              <a:spcAft>
                <a:spcPts val="0"/>
              </a:spcAft>
              <a:buSzPts val="1300"/>
              <a:buChar char="●"/>
            </a:pPr>
            <a:r>
              <a:rPr lang="id"/>
              <a:t>Buffer mirip antrian, dimana secara default buffer di Flow ukurannya sekitar Flow.DEFAULT_BUFFER_SIZE (256), artinya jika publisher mengirim data terlalu cepat, maka buffer akan menampung data tersebut dahulu sampai sekitar 256 data, jika buffer sudah penuh, maka publisher harus menunggu sampai data di buffer di ambil oleh subscriber</a:t>
            </a:r>
            <a:endParaRPr/>
          </a:p>
          <a:p>
            <a:pPr indent="-311150" lvl="0" marL="457200" rtl="0" algn="l">
              <a:spcBef>
                <a:spcPts val="0"/>
              </a:spcBef>
              <a:spcAft>
                <a:spcPts val="0"/>
              </a:spcAft>
              <a:buSzPts val="1300"/>
              <a:buChar char="●"/>
            </a:pPr>
            <a:r>
              <a:rPr lang="id"/>
              <a:t>Jika 256 terlalu besar, kita bisa mengatur data buffer yang kita inginkan</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2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Buffer</a:t>
            </a:r>
            <a:endParaRPr/>
          </a:p>
        </p:txBody>
      </p:sp>
      <p:pic>
        <p:nvPicPr>
          <p:cNvPr id="1392" name="Google Shape;1392;p233"/>
          <p:cNvPicPr preferRelativeResize="0"/>
          <p:nvPr/>
        </p:nvPicPr>
        <p:blipFill>
          <a:blip r:embed="rId3">
            <a:alphaModFix/>
          </a:blip>
          <a:stretch>
            <a:fillRect/>
          </a:stretch>
        </p:blipFill>
        <p:spPr>
          <a:xfrm>
            <a:off x="152400" y="2006250"/>
            <a:ext cx="7613660" cy="2984849"/>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2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Processor</a:t>
            </a:r>
            <a:endParaRPr/>
          </a:p>
        </p:txBody>
      </p:sp>
      <p:sp>
        <p:nvSpPr>
          <p:cNvPr id="1398" name="Google Shape;1398;p2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Flow memiliki fitur yang bernama Processor yang direpresentasikan dalam interface Processor</a:t>
            </a:r>
            <a:endParaRPr/>
          </a:p>
          <a:p>
            <a:pPr indent="-311150" lvl="0" marL="457200" rtl="0" algn="l">
              <a:spcBef>
                <a:spcPts val="0"/>
              </a:spcBef>
              <a:spcAft>
                <a:spcPts val="0"/>
              </a:spcAft>
              <a:buSzPts val="1300"/>
              <a:buChar char="●"/>
            </a:pPr>
            <a:r>
              <a:rPr lang="id"/>
              <a:t>Processor singkatnya adalah gabungan antara Publisher dan Subscriber, jadi dia bisa menerima data dari publisher lain lalu mengirim ke subscriber lain</a:t>
            </a:r>
            <a:endParaRPr/>
          </a:p>
          <a:p>
            <a:pPr indent="-311150" lvl="0" marL="457200" rtl="0" algn="l">
              <a:spcBef>
                <a:spcPts val="0"/>
              </a:spcBef>
              <a:spcAft>
                <a:spcPts val="0"/>
              </a:spcAft>
              <a:buSzPts val="1300"/>
              <a:buChar char="●"/>
            </a:pPr>
            <a:r>
              <a:rPr lang="id"/>
              <a:t>Processor cocok jika kita ingin memanipulasi data publisher lalu hasilnya dikirim ke subscriber lain</a:t>
            </a:r>
            <a:endParaRPr/>
          </a:p>
          <a:p>
            <a:pPr indent="-311150" lvl="0" marL="457200" rtl="0" algn="l">
              <a:spcBef>
                <a:spcPts val="0"/>
              </a:spcBef>
              <a:spcAft>
                <a:spcPts val="0"/>
              </a:spcAft>
              <a:buSzPts val="1300"/>
              <a:buChar char="●"/>
            </a:pPr>
            <a:r>
              <a:rPr lang="id" u="sng">
                <a:solidFill>
                  <a:schemeClr val="hlink"/>
                </a:solidFill>
                <a:hlinkClick r:id="rId3"/>
              </a:rPr>
              <a:t>https://docs.oracle.com/en/java/javase/16/docs/api/java.base/java/util/concurrent/Flow.Processor.html</a:t>
            </a:r>
            <a:r>
              <a:rPr lang="id"/>
              <a:t> </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2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Processor</a:t>
            </a:r>
            <a:endParaRPr/>
          </a:p>
        </p:txBody>
      </p:sp>
      <p:pic>
        <p:nvPicPr>
          <p:cNvPr id="1404" name="Google Shape;1404;p235"/>
          <p:cNvPicPr preferRelativeResize="0"/>
          <p:nvPr/>
        </p:nvPicPr>
        <p:blipFill>
          <a:blip r:embed="rId3">
            <a:alphaModFix/>
          </a:blip>
          <a:stretch>
            <a:fillRect/>
          </a:stretch>
        </p:blipFill>
        <p:spPr>
          <a:xfrm>
            <a:off x="152400" y="2006250"/>
            <a:ext cx="8839204" cy="2516238"/>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2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Processor</a:t>
            </a:r>
            <a:endParaRPr/>
          </a:p>
        </p:txBody>
      </p:sp>
      <p:pic>
        <p:nvPicPr>
          <p:cNvPr id="1410" name="Google Shape;1410;p236"/>
          <p:cNvPicPr preferRelativeResize="0"/>
          <p:nvPr/>
        </p:nvPicPr>
        <p:blipFill>
          <a:blip r:embed="rId3">
            <a:alphaModFix/>
          </a:blip>
          <a:stretch>
            <a:fillRect/>
          </a:stretch>
        </p:blipFill>
        <p:spPr>
          <a:xfrm>
            <a:off x="152400" y="2006250"/>
            <a:ext cx="3564845" cy="2984850"/>
          </a:xfrm>
          <a:prstGeom prst="rect">
            <a:avLst/>
          </a:prstGeom>
          <a:noFill/>
          <a:ln>
            <a:noFill/>
          </a:ln>
        </p:spPr>
      </p:pic>
      <p:pic>
        <p:nvPicPr>
          <p:cNvPr id="1411" name="Google Shape;1411;p236"/>
          <p:cNvPicPr preferRelativeResize="0"/>
          <p:nvPr/>
        </p:nvPicPr>
        <p:blipFill>
          <a:blip r:embed="rId4">
            <a:alphaModFix/>
          </a:blip>
          <a:stretch>
            <a:fillRect/>
          </a:stretch>
        </p:blipFill>
        <p:spPr>
          <a:xfrm>
            <a:off x="3869645" y="2006250"/>
            <a:ext cx="5017637" cy="2984851"/>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2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Processor</a:t>
            </a:r>
            <a:endParaRPr/>
          </a:p>
        </p:txBody>
      </p:sp>
      <p:pic>
        <p:nvPicPr>
          <p:cNvPr id="1417" name="Google Shape;1417;p237"/>
          <p:cNvPicPr preferRelativeResize="0"/>
          <p:nvPr/>
        </p:nvPicPr>
        <p:blipFill>
          <a:blip r:embed="rId3">
            <a:alphaModFix/>
          </a:blip>
          <a:stretch>
            <a:fillRect/>
          </a:stretch>
        </p:blipFill>
        <p:spPr>
          <a:xfrm>
            <a:off x="152400" y="2006250"/>
            <a:ext cx="8839202" cy="2714898"/>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2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Reactive Stream Library</a:t>
            </a:r>
            <a:endParaRPr/>
          </a:p>
        </p:txBody>
      </p:sp>
      <p:sp>
        <p:nvSpPr>
          <p:cNvPr id="1423" name="Google Shape;1423;p2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Reactive Stream sudah menjadi standard reactive stream programming di Java</a:t>
            </a:r>
            <a:endParaRPr/>
          </a:p>
          <a:p>
            <a:pPr indent="-311150" lvl="0" marL="457200" rtl="0" algn="l">
              <a:spcBef>
                <a:spcPts val="0"/>
              </a:spcBef>
              <a:spcAft>
                <a:spcPts val="0"/>
              </a:spcAft>
              <a:buSzPts val="1300"/>
              <a:buChar char="●"/>
            </a:pPr>
            <a:r>
              <a:rPr lang="id"/>
              <a:t>Jadi sekarang jika kita menggunakan library seperti RxJava atau Reactor, semua bisa diintegrasikan dengan Reactive Stream</a:t>
            </a:r>
            <a:endParaRPr/>
          </a:p>
          <a:p>
            <a:pPr indent="-311150" lvl="0" marL="457200" rtl="0" algn="l">
              <a:spcBef>
                <a:spcPts val="0"/>
              </a:spcBef>
              <a:spcAft>
                <a:spcPts val="0"/>
              </a:spcAft>
              <a:buSzPts val="1300"/>
              <a:buChar char="●"/>
            </a:pPr>
            <a:r>
              <a:rPr lang="id" u="sng">
                <a:solidFill>
                  <a:schemeClr val="hlink"/>
                </a:solidFill>
                <a:hlinkClick r:id="rId3"/>
              </a:rPr>
              <a:t>https://github.com/ReactiveX/RxJava</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https://github.com/reactor/reactor-core</a:t>
            </a:r>
            <a:r>
              <a:rPr lang="id"/>
              <a:t> </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2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2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1434" name="Google Shape;1434;p2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Input Output</a:t>
            </a:r>
            <a:endParaRPr/>
          </a:p>
          <a:p>
            <a:pPr indent="-311150" lvl="0" marL="457200" rtl="0" algn="l">
              <a:spcBef>
                <a:spcPts val="0"/>
              </a:spcBef>
              <a:spcAft>
                <a:spcPts val="0"/>
              </a:spcAft>
              <a:buSzPts val="1300"/>
              <a:buChar char="●"/>
            </a:pPr>
            <a:r>
              <a:rPr lang="id"/>
              <a:t>Java Network</a:t>
            </a:r>
            <a:endParaRPr/>
          </a:p>
          <a:p>
            <a:pPr indent="-311150" lvl="0" marL="457200" rtl="0" algn="l">
              <a:spcBef>
                <a:spcPts val="0"/>
              </a:spcBef>
              <a:spcAft>
                <a:spcPts val="0"/>
              </a:spcAft>
              <a:buSzPts val="1300"/>
              <a:buChar char="●"/>
            </a:pPr>
            <a:r>
              <a:rPr lang="id"/>
              <a:t>Java Validation</a:t>
            </a:r>
            <a:endParaRPr/>
          </a:p>
          <a:p>
            <a:pPr indent="-311150" lvl="0" marL="457200" rtl="0" algn="l">
              <a:spcBef>
                <a:spcPts val="0"/>
              </a:spcBef>
              <a:spcAft>
                <a:spcPts val="0"/>
              </a:spcAft>
              <a:buSzPts val="1300"/>
              <a:buChar char="●"/>
            </a:pPr>
            <a:r>
              <a:rPr lang="id"/>
              <a:t>Java Persistence API</a:t>
            </a:r>
            <a:endParaRPr/>
          </a:p>
          <a:p>
            <a:pPr indent="-311150" lvl="0" marL="457200" rtl="0" algn="l">
              <a:spcBef>
                <a:spcPts val="0"/>
              </a:spcBef>
              <a:spcAft>
                <a:spcPts val="0"/>
              </a:spcAft>
              <a:buSzPts val="1300"/>
              <a:buChar char="●"/>
            </a:pPr>
            <a:r>
              <a:rPr lang="id"/>
              <a:t>Java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